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Lato" panose="020F0502020204030203" pitchFamily="34" charset="0"/>
      <p:regular r:id="rId12"/>
      <p:bold r:id="rId13"/>
      <p:italic r:id="rId14"/>
      <p:boldItalic r:id="rId15"/>
    </p:embeddedFont>
    <p:embeddedFont>
      <p:font typeface="Poppins"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86" y="3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zmam khan" userId="2a823f6a0044325f" providerId="LiveId" clId="{03E53878-EC7B-46FC-B10F-DC99D749C45C}"/>
    <pc:docChg chg="modSld">
      <pc:chgData name="Inzmam khan" userId="2a823f6a0044325f" providerId="LiveId" clId="{03E53878-EC7B-46FC-B10F-DC99D749C45C}" dt="2025-11-21T14:41:02.638" v="3" actId="1038"/>
      <pc:docMkLst>
        <pc:docMk/>
      </pc:docMkLst>
      <pc:sldChg chg="modSp mod">
        <pc:chgData name="Inzmam khan" userId="2a823f6a0044325f" providerId="LiveId" clId="{03E53878-EC7B-46FC-B10F-DC99D749C45C}" dt="2025-11-21T14:41:02.638" v="3" actId="1038"/>
        <pc:sldMkLst>
          <pc:docMk/>
          <pc:sldMk cId="0" sldId="256"/>
        </pc:sldMkLst>
        <pc:picChg chg="mod">
          <ac:chgData name="Inzmam khan" userId="2a823f6a0044325f" providerId="LiveId" clId="{03E53878-EC7B-46FC-B10F-DC99D749C45C}" dt="2025-11-21T14:41:02.638" v="3" actId="1038"/>
          <ac:picMkLst>
            <pc:docMk/>
            <pc:sldMk cId="0" sldId="256"/>
            <ac:picMk id="84" creationId="{00000000-0000-0000-0000-000000000000}"/>
          </ac:picMkLst>
        </pc:picChg>
        <pc:picChg chg="mod">
          <ac:chgData name="Inzmam khan" userId="2a823f6a0044325f" providerId="LiveId" clId="{03E53878-EC7B-46FC-B10F-DC99D749C45C}" dt="2025-11-21T14:40:57.095" v="1" actId="14100"/>
          <ac:picMkLst>
            <pc:docMk/>
            <pc:sldMk cId="0" sldId="256"/>
            <ac:picMk id="8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A0E24"/>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20096"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2528875" y="5214075"/>
            <a:ext cx="7134225" cy="1440924"/>
          </a:xfrm>
          <a:prstGeom prst="rect">
            <a:avLst/>
          </a:prstGeom>
          <a:noFill/>
          <a:ln>
            <a:noFill/>
          </a:ln>
        </p:spPr>
      </p:pic>
      <p:sp>
        <p:nvSpPr>
          <p:cNvPr id="86" name="Google Shape;86;p13"/>
          <p:cNvSpPr txBox="1"/>
          <p:nvPr/>
        </p:nvSpPr>
        <p:spPr>
          <a:xfrm>
            <a:off x="295275" y="840875"/>
            <a:ext cx="11724300" cy="554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a:solidFill>
                  <a:srgbClr val="FFFFFF"/>
                </a:solidFill>
                <a:latin typeface="Poppins"/>
                <a:ea typeface="Poppins"/>
                <a:cs typeface="Poppins"/>
                <a:sym typeface="Poppins"/>
              </a:rPr>
              <a:t>Shri Ramswaroop Memorial University</a:t>
            </a:r>
            <a:endParaRPr sz="3600"/>
          </a:p>
        </p:txBody>
      </p:sp>
      <p:sp>
        <p:nvSpPr>
          <p:cNvPr id="87" name="Google Shape;87;p13"/>
          <p:cNvSpPr txBox="1"/>
          <p:nvPr/>
        </p:nvSpPr>
        <p:spPr>
          <a:xfrm>
            <a:off x="1048600" y="1709800"/>
            <a:ext cx="10246500" cy="1847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a:solidFill>
                  <a:srgbClr val="BF124D"/>
                </a:solidFill>
                <a:latin typeface="Poppins"/>
                <a:ea typeface="Poppins"/>
                <a:cs typeface="Poppins"/>
                <a:sym typeface="Poppins"/>
              </a:rPr>
              <a:t>The </a:t>
            </a:r>
            <a:r>
              <a:rPr lang="en-US" sz="6000" b="1" i="0" u="none" strike="noStrike" cap="none">
                <a:solidFill>
                  <a:srgbClr val="BF124D"/>
                </a:solidFill>
                <a:latin typeface="Poppins"/>
                <a:ea typeface="Poppins"/>
                <a:cs typeface="Poppins"/>
                <a:sym typeface="Poppins"/>
              </a:rPr>
              <a:t>Silver Screen Symphony</a:t>
            </a:r>
            <a:endParaRPr sz="6000"/>
          </a:p>
        </p:txBody>
      </p:sp>
      <p:sp>
        <p:nvSpPr>
          <p:cNvPr id="88" name="Google Shape;88;p13"/>
          <p:cNvSpPr txBox="1"/>
          <p:nvPr/>
        </p:nvSpPr>
        <p:spPr>
          <a:xfrm>
            <a:off x="3405663" y="3632451"/>
            <a:ext cx="53808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Poppins"/>
                <a:ea typeface="Poppins"/>
                <a:cs typeface="Poppins"/>
                <a:sym typeface="Poppins"/>
              </a:rPr>
              <a:t>Data Analytics &amp; Reporting Project</a:t>
            </a:r>
            <a:endParaRPr/>
          </a:p>
        </p:txBody>
      </p:sp>
      <p:pic>
        <p:nvPicPr>
          <p:cNvPr id="89" name="Google Shape;89;p13" descr="image.png"/>
          <p:cNvPicPr preferRelativeResize="0"/>
          <p:nvPr/>
        </p:nvPicPr>
        <p:blipFill rotWithShape="1">
          <a:blip r:embed="rId5">
            <a:alphaModFix/>
          </a:blip>
          <a:srcRect/>
          <a:stretch/>
        </p:blipFill>
        <p:spPr>
          <a:xfrm>
            <a:off x="5810250" y="203001"/>
            <a:ext cx="571500" cy="571500"/>
          </a:xfrm>
          <a:prstGeom prst="rect">
            <a:avLst/>
          </a:prstGeom>
          <a:noFill/>
          <a:ln>
            <a:noFill/>
          </a:ln>
        </p:spPr>
      </p:pic>
      <p:sp>
        <p:nvSpPr>
          <p:cNvPr id="90" name="Google Shape;90;p13"/>
          <p:cNvSpPr txBox="1"/>
          <p:nvPr/>
        </p:nvSpPr>
        <p:spPr>
          <a:xfrm>
            <a:off x="2395948" y="5364438"/>
            <a:ext cx="7400100" cy="2079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By Inzmam un Nabi Khan (202410101150099) &amp; Alok Sh</a:t>
            </a:r>
            <a:r>
              <a:rPr lang="en-US" sz="1350">
                <a:solidFill>
                  <a:srgbClr val="F0F0F0"/>
                </a:solidFill>
                <a:latin typeface="Lato"/>
                <a:ea typeface="Lato"/>
                <a:cs typeface="Lato"/>
                <a:sym typeface="Lato"/>
              </a:rPr>
              <a:t>ri</a:t>
            </a:r>
            <a:r>
              <a:rPr lang="en-US" sz="1350" b="0" i="0" u="none" strike="noStrike" cap="none">
                <a:solidFill>
                  <a:srgbClr val="F0F0F0"/>
                </a:solidFill>
                <a:latin typeface="Lato"/>
                <a:ea typeface="Lato"/>
                <a:cs typeface="Lato"/>
                <a:sym typeface="Lato"/>
              </a:rPr>
              <a:t>vastaw (202410101150096)</a:t>
            </a:r>
            <a:endParaRPr/>
          </a:p>
        </p:txBody>
      </p:sp>
      <p:sp>
        <p:nvSpPr>
          <p:cNvPr id="91" name="Google Shape;91;p13"/>
          <p:cNvSpPr txBox="1"/>
          <p:nvPr/>
        </p:nvSpPr>
        <p:spPr>
          <a:xfrm>
            <a:off x="2919424" y="5750716"/>
            <a:ext cx="6353100" cy="2079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Group : 34 | Course/Branch : Btech CS(DS + AI)</a:t>
            </a:r>
            <a:endParaRPr/>
          </a:p>
        </p:txBody>
      </p:sp>
      <p:sp>
        <p:nvSpPr>
          <p:cNvPr id="92" name="Google Shape;92;p13"/>
          <p:cNvSpPr txBox="1"/>
          <p:nvPr/>
        </p:nvSpPr>
        <p:spPr>
          <a:xfrm>
            <a:off x="2919424" y="6137007"/>
            <a:ext cx="6353100" cy="2079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Year/Sem : 2nd year, 3rd Sem | Subject : Data Analytics &amp; Reporting (UCS3804)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A0E24"/>
        </a:solidFill>
        <a:effectLst/>
      </p:bgPr>
    </p:bg>
    <p:spTree>
      <p:nvGrpSpPr>
        <p:cNvPr id="1" name="Shape 96"/>
        <p:cNvGrpSpPr/>
        <p:nvPr/>
      </p:nvGrpSpPr>
      <p:grpSpPr>
        <a:xfrm>
          <a:off x="0" y="0"/>
          <a:ext cx="0" cy="0"/>
          <a:chOff x="0" y="0"/>
          <a:chExt cx="0" cy="0"/>
        </a:xfrm>
      </p:grpSpPr>
      <p:pic>
        <p:nvPicPr>
          <p:cNvPr id="97" name="Google Shape;97;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8" name="Google Shape;98;p14" descr="image.png"/>
          <p:cNvPicPr preferRelativeResize="0"/>
          <p:nvPr/>
        </p:nvPicPr>
        <p:blipFill rotWithShape="1">
          <a:blip r:embed="rId4">
            <a:alphaModFix/>
          </a:blip>
          <a:srcRect/>
          <a:stretch/>
        </p:blipFill>
        <p:spPr>
          <a:xfrm>
            <a:off x="571500" y="1395561"/>
            <a:ext cx="7111900" cy="5305127"/>
          </a:xfrm>
          <a:prstGeom prst="rect">
            <a:avLst/>
          </a:prstGeom>
          <a:noFill/>
          <a:ln>
            <a:noFill/>
          </a:ln>
        </p:spPr>
      </p:pic>
      <p:sp>
        <p:nvSpPr>
          <p:cNvPr id="99" name="Google Shape;99;p14"/>
          <p:cNvSpPr txBox="1"/>
          <p:nvPr/>
        </p:nvSpPr>
        <p:spPr>
          <a:xfrm>
            <a:off x="866775" y="1690836"/>
            <a:ext cx="6847418" cy="8096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7B2D8"/>
                </a:solidFill>
                <a:latin typeface="Poppins"/>
                <a:ea typeface="Poppins"/>
                <a:cs typeface="Poppins"/>
                <a:sym typeface="Poppins"/>
              </a:rPr>
              <a:t>To Provide Driven Insights for Modern Streaming World</a:t>
            </a:r>
            <a:endParaRPr/>
          </a:p>
        </p:txBody>
      </p:sp>
      <p:sp>
        <p:nvSpPr>
          <p:cNvPr id="100" name="Google Shape;100;p14"/>
          <p:cNvSpPr/>
          <p:nvPr/>
        </p:nvSpPr>
        <p:spPr>
          <a:xfrm>
            <a:off x="866775" y="2586186"/>
            <a:ext cx="65213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1" name="Google Shape;101;p14" descr="image.png"/>
          <p:cNvPicPr preferRelativeResize="0"/>
          <p:nvPr/>
        </p:nvPicPr>
        <p:blipFill rotWithShape="1">
          <a:blip r:embed="rId5">
            <a:alphaModFix/>
          </a:blip>
          <a:srcRect/>
          <a:stretch/>
        </p:blipFill>
        <p:spPr>
          <a:xfrm>
            <a:off x="9128075" y="3333750"/>
            <a:ext cx="1428750" cy="1428750"/>
          </a:xfrm>
          <a:prstGeom prst="rect">
            <a:avLst/>
          </a:prstGeom>
          <a:noFill/>
          <a:ln>
            <a:noFill/>
          </a:ln>
        </p:spPr>
      </p:pic>
      <p:sp>
        <p:nvSpPr>
          <p:cNvPr id="102" name="Google Shape;102;p14"/>
          <p:cNvSpPr txBox="1"/>
          <p:nvPr/>
        </p:nvSpPr>
        <p:spPr>
          <a:xfrm>
            <a:off x="1104900" y="2938611"/>
            <a:ext cx="62832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The challenge of modern data analysis is transforming large volumes of raw data into reliable, actionable insights.</a:t>
            </a:r>
            <a:endParaRPr/>
          </a:p>
        </p:txBody>
      </p:sp>
      <p:sp>
        <p:nvSpPr>
          <p:cNvPr id="103" name="Google Shape;103;p14"/>
          <p:cNvSpPr txBox="1"/>
          <p:nvPr/>
        </p:nvSpPr>
        <p:spPr>
          <a:xfrm>
            <a:off x="1104900" y="3601491"/>
            <a:ext cx="62832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This project documents a hybrid workflow combining </a:t>
            </a:r>
            <a:r>
              <a:rPr lang="en-US" sz="1350" b="1" i="0" u="none" strike="noStrike" cap="none">
                <a:solidFill>
                  <a:srgbClr val="F0F0F0"/>
                </a:solidFill>
                <a:latin typeface="Lato"/>
                <a:ea typeface="Lato"/>
                <a:cs typeface="Lato"/>
                <a:sym typeface="Lato"/>
              </a:rPr>
              <a:t>Microsoft Excel, Python, and Power BI</a:t>
            </a:r>
            <a:r>
              <a:rPr lang="en-US" sz="1350" b="0" i="0" u="none" strike="noStrike" cap="none">
                <a:solidFill>
                  <a:srgbClr val="F0F0F0"/>
                </a:solidFill>
                <a:latin typeface="Lato"/>
                <a:ea typeface="Lato"/>
                <a:cs typeface="Lato"/>
                <a:sym typeface="Lato"/>
              </a:rPr>
              <a:t> to demonstrate a practical, end-to-end methodology.</a:t>
            </a:r>
            <a:endParaRPr/>
          </a:p>
        </p:txBody>
      </p:sp>
      <p:sp>
        <p:nvSpPr>
          <p:cNvPr id="104" name="Google Shape;104;p14"/>
          <p:cNvSpPr txBox="1"/>
          <p:nvPr/>
        </p:nvSpPr>
        <p:spPr>
          <a:xfrm>
            <a:off x="1104900" y="4264372"/>
            <a:ext cx="62832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Excel:</a:t>
            </a:r>
            <a:r>
              <a:rPr lang="en-US" sz="1350" b="0" i="0" u="none" strike="noStrike" cap="none">
                <a:solidFill>
                  <a:srgbClr val="F0F0F0"/>
                </a:solidFill>
                <a:latin typeface="Lato"/>
                <a:ea typeface="Lato"/>
                <a:cs typeface="Lato"/>
                <a:sym typeface="Lato"/>
              </a:rPr>
              <a:t> Used for immediate data inspection, crucial quality control, and rapid preliminary summary statistics.</a:t>
            </a:r>
            <a:endParaRPr/>
          </a:p>
        </p:txBody>
      </p:sp>
      <p:sp>
        <p:nvSpPr>
          <p:cNvPr id="105" name="Google Shape;105;p14"/>
          <p:cNvSpPr txBox="1"/>
          <p:nvPr/>
        </p:nvSpPr>
        <p:spPr>
          <a:xfrm>
            <a:off x="1104900" y="4927252"/>
            <a:ext cx="62832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Python:</a:t>
            </a:r>
            <a:r>
              <a:rPr lang="en-US" sz="1350" b="0" i="0" u="none" strike="noStrike" cap="none">
                <a:solidFill>
                  <a:srgbClr val="F0F0F0"/>
                </a:solidFill>
                <a:latin typeface="Lato"/>
                <a:ea typeface="Lato"/>
                <a:cs typeface="Lato"/>
                <a:sym typeface="Lato"/>
              </a:rPr>
              <a:t> Utilized for scalability, rigorous cleaning (Pandas), complex aggregation, and professional statistical visualization (Matplotlib).</a:t>
            </a:r>
            <a:endParaRPr/>
          </a:p>
        </p:txBody>
      </p:sp>
      <p:sp>
        <p:nvSpPr>
          <p:cNvPr id="106" name="Google Shape;106;p14"/>
          <p:cNvSpPr txBox="1"/>
          <p:nvPr/>
        </p:nvSpPr>
        <p:spPr>
          <a:xfrm>
            <a:off x="1104900" y="5590133"/>
            <a:ext cx="62832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Power BI:</a:t>
            </a:r>
            <a:r>
              <a:rPr lang="en-US" sz="1350" b="0" i="0" u="none" strike="noStrike" cap="none">
                <a:solidFill>
                  <a:srgbClr val="F0F0F0"/>
                </a:solidFill>
                <a:latin typeface="Lato"/>
                <a:ea typeface="Lato"/>
                <a:cs typeface="Lato"/>
                <a:sym typeface="Lato"/>
              </a:rPr>
              <a:t> Leveraged for building an interactive Business Intelligence report to consolidate and present findings.</a:t>
            </a:r>
            <a:endParaRPr/>
          </a:p>
        </p:txBody>
      </p:sp>
      <p:sp>
        <p:nvSpPr>
          <p:cNvPr id="107" name="Google Shape;107;p14"/>
          <p:cNvSpPr txBox="1"/>
          <p:nvPr/>
        </p:nvSpPr>
        <p:spPr>
          <a:xfrm>
            <a:off x="571500" y="157311"/>
            <a:ext cx="11601450" cy="714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67B2D8"/>
                </a:solidFill>
                <a:latin typeface="Poppins"/>
                <a:ea typeface="Poppins"/>
                <a:cs typeface="Poppins"/>
                <a:sym typeface="Poppins"/>
              </a:rPr>
              <a:t>OBJECTIVE</a:t>
            </a:r>
            <a:endParaRPr/>
          </a:p>
        </p:txBody>
      </p:sp>
      <p:sp>
        <p:nvSpPr>
          <p:cNvPr id="108" name="Google Shape;108;p14"/>
          <p:cNvSpPr/>
          <p:nvPr/>
        </p:nvSpPr>
        <p:spPr>
          <a:xfrm>
            <a:off x="571500" y="985986"/>
            <a:ext cx="11049000" cy="28575"/>
          </a:xfrm>
          <a:prstGeom prst="rect">
            <a:avLst/>
          </a:prstGeom>
          <a:solidFill>
            <a:srgbClr val="BF12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9" name="Google Shape;109;p14" descr="image.png"/>
          <p:cNvPicPr preferRelativeResize="0"/>
          <p:nvPr/>
        </p:nvPicPr>
        <p:blipFill rotWithShape="1">
          <a:blip r:embed="rId6">
            <a:alphaModFix/>
          </a:blip>
          <a:srcRect/>
          <a:stretch/>
        </p:blipFill>
        <p:spPr>
          <a:xfrm>
            <a:off x="866775" y="2976711"/>
            <a:ext cx="85725" cy="142875"/>
          </a:xfrm>
          <a:prstGeom prst="rect">
            <a:avLst/>
          </a:prstGeom>
          <a:noFill/>
          <a:ln>
            <a:noFill/>
          </a:ln>
        </p:spPr>
      </p:pic>
      <p:pic>
        <p:nvPicPr>
          <p:cNvPr id="110" name="Google Shape;110;p14" descr="image.png"/>
          <p:cNvPicPr preferRelativeResize="0"/>
          <p:nvPr/>
        </p:nvPicPr>
        <p:blipFill rotWithShape="1">
          <a:blip r:embed="rId6">
            <a:alphaModFix/>
          </a:blip>
          <a:srcRect/>
          <a:stretch/>
        </p:blipFill>
        <p:spPr>
          <a:xfrm>
            <a:off x="866775" y="3639591"/>
            <a:ext cx="85725" cy="142875"/>
          </a:xfrm>
          <a:prstGeom prst="rect">
            <a:avLst/>
          </a:prstGeom>
          <a:noFill/>
          <a:ln>
            <a:noFill/>
          </a:ln>
        </p:spPr>
      </p:pic>
      <p:pic>
        <p:nvPicPr>
          <p:cNvPr id="111" name="Google Shape;111;p14" descr="image.png"/>
          <p:cNvPicPr preferRelativeResize="0"/>
          <p:nvPr/>
        </p:nvPicPr>
        <p:blipFill rotWithShape="1">
          <a:blip r:embed="rId6">
            <a:alphaModFix/>
          </a:blip>
          <a:srcRect/>
          <a:stretch/>
        </p:blipFill>
        <p:spPr>
          <a:xfrm>
            <a:off x="866775" y="4302472"/>
            <a:ext cx="85725" cy="142875"/>
          </a:xfrm>
          <a:prstGeom prst="rect">
            <a:avLst/>
          </a:prstGeom>
          <a:noFill/>
          <a:ln>
            <a:noFill/>
          </a:ln>
        </p:spPr>
      </p:pic>
      <p:pic>
        <p:nvPicPr>
          <p:cNvPr id="112" name="Google Shape;112;p14" descr="image.png"/>
          <p:cNvPicPr preferRelativeResize="0"/>
          <p:nvPr/>
        </p:nvPicPr>
        <p:blipFill rotWithShape="1">
          <a:blip r:embed="rId6">
            <a:alphaModFix/>
          </a:blip>
          <a:srcRect/>
          <a:stretch/>
        </p:blipFill>
        <p:spPr>
          <a:xfrm>
            <a:off x="866775" y="4965352"/>
            <a:ext cx="85725" cy="142875"/>
          </a:xfrm>
          <a:prstGeom prst="rect">
            <a:avLst/>
          </a:prstGeom>
          <a:noFill/>
          <a:ln>
            <a:noFill/>
          </a:ln>
        </p:spPr>
      </p:pic>
      <p:pic>
        <p:nvPicPr>
          <p:cNvPr id="113" name="Google Shape;113;p14" descr="image.png"/>
          <p:cNvPicPr preferRelativeResize="0"/>
          <p:nvPr/>
        </p:nvPicPr>
        <p:blipFill rotWithShape="1">
          <a:blip r:embed="rId6">
            <a:alphaModFix/>
          </a:blip>
          <a:srcRect/>
          <a:stretch/>
        </p:blipFill>
        <p:spPr>
          <a:xfrm>
            <a:off x="866775" y="5628233"/>
            <a:ext cx="85725" cy="142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A0E24"/>
        </a:solidFill>
        <a:effectLst/>
      </p:bgPr>
    </p:bg>
    <p:spTree>
      <p:nvGrpSpPr>
        <p:cNvPr id="1" name="Shape 117"/>
        <p:cNvGrpSpPr/>
        <p:nvPr/>
      </p:nvGrpSpPr>
      <p:grpSpPr>
        <a:xfrm>
          <a:off x="0" y="0"/>
          <a:ext cx="0" cy="0"/>
          <a:chOff x="0" y="0"/>
          <a:chExt cx="0" cy="0"/>
        </a:xfrm>
      </p:grpSpPr>
      <p:pic>
        <p:nvPicPr>
          <p:cNvPr id="118" name="Google Shape;118;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9" name="Google Shape;119;p15" descr="image.png"/>
          <p:cNvPicPr preferRelativeResize="0"/>
          <p:nvPr/>
        </p:nvPicPr>
        <p:blipFill rotWithShape="1">
          <a:blip r:embed="rId4">
            <a:alphaModFix/>
          </a:blip>
          <a:srcRect/>
          <a:stretch/>
        </p:blipFill>
        <p:spPr>
          <a:xfrm>
            <a:off x="571500" y="1619250"/>
            <a:ext cx="5334000" cy="4857750"/>
          </a:xfrm>
          <a:prstGeom prst="rect">
            <a:avLst/>
          </a:prstGeom>
          <a:noFill/>
          <a:ln>
            <a:noFill/>
          </a:ln>
        </p:spPr>
      </p:pic>
      <p:pic>
        <p:nvPicPr>
          <p:cNvPr id="120" name="Google Shape;120;p15" descr="image.png"/>
          <p:cNvPicPr preferRelativeResize="0"/>
          <p:nvPr/>
        </p:nvPicPr>
        <p:blipFill rotWithShape="1">
          <a:blip r:embed="rId4">
            <a:alphaModFix/>
          </a:blip>
          <a:srcRect/>
          <a:stretch/>
        </p:blipFill>
        <p:spPr>
          <a:xfrm>
            <a:off x="6286500" y="1619250"/>
            <a:ext cx="5334000" cy="4857750"/>
          </a:xfrm>
          <a:prstGeom prst="rect">
            <a:avLst/>
          </a:prstGeom>
          <a:noFill/>
          <a:ln>
            <a:noFill/>
          </a:ln>
        </p:spPr>
      </p:pic>
      <p:pic>
        <p:nvPicPr>
          <p:cNvPr id="121" name="Google Shape;121;p15" descr="image.png"/>
          <p:cNvPicPr preferRelativeResize="0"/>
          <p:nvPr/>
        </p:nvPicPr>
        <p:blipFill rotWithShape="1">
          <a:blip r:embed="rId5">
            <a:alphaModFix/>
          </a:blip>
          <a:srcRect/>
          <a:stretch/>
        </p:blipFill>
        <p:spPr>
          <a:xfrm>
            <a:off x="11277600" y="381000"/>
            <a:ext cx="342900" cy="457200"/>
          </a:xfrm>
          <a:prstGeom prst="rect">
            <a:avLst/>
          </a:prstGeom>
          <a:noFill/>
          <a:ln>
            <a:noFill/>
          </a:ln>
        </p:spPr>
      </p:pic>
      <p:sp>
        <p:nvSpPr>
          <p:cNvPr id="122" name="Google Shape;122;p15"/>
          <p:cNvSpPr txBox="1"/>
          <p:nvPr/>
        </p:nvSpPr>
        <p:spPr>
          <a:xfrm>
            <a:off x="866775" y="1914525"/>
            <a:ext cx="498062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7B2D8"/>
                </a:solidFill>
                <a:latin typeface="Poppins"/>
                <a:ea typeface="Poppins"/>
                <a:cs typeface="Poppins"/>
                <a:sym typeface="Poppins"/>
              </a:rPr>
              <a:t>Data Acquisition &amp; Preprocessing</a:t>
            </a:r>
            <a:endParaRPr/>
          </a:p>
        </p:txBody>
      </p:sp>
      <p:sp>
        <p:nvSpPr>
          <p:cNvPr id="123" name="Google Shape;123;p15"/>
          <p:cNvSpPr/>
          <p:nvPr/>
        </p:nvSpPr>
        <p:spPr>
          <a:xfrm>
            <a:off x="866775" y="2409825"/>
            <a:ext cx="4743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5"/>
          <p:cNvSpPr txBox="1"/>
          <p:nvPr/>
        </p:nvSpPr>
        <p:spPr>
          <a:xfrm>
            <a:off x="6581775" y="1914525"/>
            <a:ext cx="498062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7B2D8"/>
                </a:solidFill>
                <a:latin typeface="Poppins"/>
                <a:ea typeface="Poppins"/>
                <a:cs typeface="Poppins"/>
                <a:sym typeface="Poppins"/>
              </a:rPr>
              <a:t>Analysis &amp; Reporting</a:t>
            </a:r>
            <a:endParaRPr/>
          </a:p>
        </p:txBody>
      </p:sp>
      <p:sp>
        <p:nvSpPr>
          <p:cNvPr id="125" name="Google Shape;125;p15"/>
          <p:cNvSpPr/>
          <p:nvPr/>
        </p:nvSpPr>
        <p:spPr>
          <a:xfrm>
            <a:off x="6581775" y="2409825"/>
            <a:ext cx="4743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6" name="Google Shape;126;p15"/>
          <p:cNvSpPr txBox="1"/>
          <p:nvPr/>
        </p:nvSpPr>
        <p:spPr>
          <a:xfrm>
            <a:off x="1104900" y="2762250"/>
            <a:ext cx="45053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Primary dataset acquired from the public IMDb repository.</a:t>
            </a:r>
            <a:endParaRPr/>
          </a:p>
        </p:txBody>
      </p:sp>
      <p:sp>
        <p:nvSpPr>
          <p:cNvPr id="127" name="Google Shape;127;p15"/>
          <p:cNvSpPr txBox="1"/>
          <p:nvPr/>
        </p:nvSpPr>
        <p:spPr>
          <a:xfrm>
            <a:off x="1104900" y="315084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Conditional formatting applied to systematically highlight and isolate missing or null entries.</a:t>
            </a:r>
            <a:endParaRPr/>
          </a:p>
        </p:txBody>
      </p:sp>
      <p:sp>
        <p:nvSpPr>
          <p:cNvPr id="128" name="Google Shape;128;p15"/>
          <p:cNvSpPr txBox="1"/>
          <p:nvPr/>
        </p:nvSpPr>
        <p:spPr>
          <a:xfrm>
            <a:off x="1104900" y="381372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Missing numerical values addressed using mean imputation to maintain sample size and minimize bias.</a:t>
            </a:r>
            <a:endParaRPr/>
          </a:p>
        </p:txBody>
      </p:sp>
      <p:sp>
        <p:nvSpPr>
          <p:cNvPr id="129" name="Google Shape;129;p15"/>
          <p:cNvSpPr txBox="1"/>
          <p:nvPr/>
        </p:nvSpPr>
        <p:spPr>
          <a:xfrm>
            <a:off x="6819900" y="276225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A Pivot Table was constructed to summarize the data, aggregating the total count of movie releases by year.</a:t>
            </a:r>
            <a:endParaRPr/>
          </a:p>
        </p:txBody>
      </p:sp>
      <p:sp>
        <p:nvSpPr>
          <p:cNvPr id="130" name="Google Shape;130;p15"/>
          <p:cNvSpPr txBox="1"/>
          <p:nvPr/>
        </p:nvSpPr>
        <p:spPr>
          <a:xfrm>
            <a:off x="6819900" y="342513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The resulting time-series data was visualized using a Line Chart.</a:t>
            </a:r>
            <a:endParaRPr/>
          </a:p>
        </p:txBody>
      </p:sp>
      <p:sp>
        <p:nvSpPr>
          <p:cNvPr id="131" name="Google Shape;131;p15"/>
          <p:cNvSpPr txBox="1"/>
          <p:nvPr/>
        </p:nvSpPr>
        <p:spPr>
          <a:xfrm>
            <a:off x="6819900" y="4088010"/>
            <a:ext cx="450532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This chart represents the historical trend of movie production, allowing for clear observation of release volumes.</a:t>
            </a:r>
            <a:endParaRPr/>
          </a:p>
        </p:txBody>
      </p:sp>
      <p:sp>
        <p:nvSpPr>
          <p:cNvPr id="132" name="Google Shape;132;p15"/>
          <p:cNvSpPr txBox="1"/>
          <p:nvPr/>
        </p:nvSpPr>
        <p:spPr>
          <a:xfrm>
            <a:off x="571500" y="381000"/>
            <a:ext cx="11601450" cy="714375"/>
          </a:xfrm>
          <a:prstGeom prst="rect">
            <a:avLst/>
          </a:prstGeom>
          <a:noFill/>
          <a:ln>
            <a:noFill/>
          </a:ln>
        </p:spPr>
        <p:txBody>
          <a:bodyPr spcFirstLastPara="1" wrap="square" lIns="342900" tIns="0" rIns="0" bIns="0" anchor="t" anchorCtr="0">
            <a:spAutoFit/>
          </a:bodyPr>
          <a:lstStyle/>
          <a:p>
            <a:pPr marL="0" marR="0" lvl="0" indent="0" algn="l" rtl="0">
              <a:spcBef>
                <a:spcPts val="0"/>
              </a:spcBef>
              <a:spcAft>
                <a:spcPts val="0"/>
              </a:spcAft>
              <a:buNone/>
            </a:pPr>
            <a:r>
              <a:rPr lang="en-US" sz="3600" b="1" i="0" u="none" strike="noStrike" cap="none">
                <a:solidFill>
                  <a:srgbClr val="67B2D8"/>
                </a:solidFill>
                <a:latin typeface="Poppins"/>
                <a:ea typeface="Poppins"/>
                <a:cs typeface="Poppins"/>
                <a:sym typeface="Poppins"/>
              </a:rPr>
              <a:t>Excel Methodology</a:t>
            </a:r>
            <a:endParaRPr/>
          </a:p>
        </p:txBody>
      </p:sp>
      <p:sp>
        <p:nvSpPr>
          <p:cNvPr id="133" name="Google Shape;133;p15"/>
          <p:cNvSpPr/>
          <p:nvPr/>
        </p:nvSpPr>
        <p:spPr>
          <a:xfrm>
            <a:off x="571500" y="1209675"/>
            <a:ext cx="11049000" cy="28575"/>
          </a:xfrm>
          <a:prstGeom prst="rect">
            <a:avLst/>
          </a:prstGeom>
          <a:solidFill>
            <a:srgbClr val="BF12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4" name="Google Shape;134;p15" descr="image.png"/>
          <p:cNvPicPr preferRelativeResize="0"/>
          <p:nvPr/>
        </p:nvPicPr>
        <p:blipFill rotWithShape="1">
          <a:blip r:embed="rId6">
            <a:alphaModFix/>
          </a:blip>
          <a:srcRect/>
          <a:stretch/>
        </p:blipFill>
        <p:spPr>
          <a:xfrm>
            <a:off x="866775" y="2800350"/>
            <a:ext cx="85725" cy="142875"/>
          </a:xfrm>
          <a:prstGeom prst="rect">
            <a:avLst/>
          </a:prstGeom>
          <a:noFill/>
          <a:ln>
            <a:noFill/>
          </a:ln>
        </p:spPr>
      </p:pic>
      <p:pic>
        <p:nvPicPr>
          <p:cNvPr id="135" name="Google Shape;135;p15" descr="image.png"/>
          <p:cNvPicPr preferRelativeResize="0"/>
          <p:nvPr/>
        </p:nvPicPr>
        <p:blipFill rotWithShape="1">
          <a:blip r:embed="rId6">
            <a:alphaModFix/>
          </a:blip>
          <a:srcRect/>
          <a:stretch/>
        </p:blipFill>
        <p:spPr>
          <a:xfrm>
            <a:off x="866775" y="3188940"/>
            <a:ext cx="85725" cy="142875"/>
          </a:xfrm>
          <a:prstGeom prst="rect">
            <a:avLst/>
          </a:prstGeom>
          <a:noFill/>
          <a:ln>
            <a:noFill/>
          </a:ln>
        </p:spPr>
      </p:pic>
      <p:pic>
        <p:nvPicPr>
          <p:cNvPr id="136" name="Google Shape;136;p15" descr="image.png"/>
          <p:cNvPicPr preferRelativeResize="0"/>
          <p:nvPr/>
        </p:nvPicPr>
        <p:blipFill rotWithShape="1">
          <a:blip r:embed="rId6">
            <a:alphaModFix/>
          </a:blip>
          <a:srcRect/>
          <a:stretch/>
        </p:blipFill>
        <p:spPr>
          <a:xfrm>
            <a:off x="866775" y="3851820"/>
            <a:ext cx="85725" cy="142875"/>
          </a:xfrm>
          <a:prstGeom prst="rect">
            <a:avLst/>
          </a:prstGeom>
          <a:noFill/>
          <a:ln>
            <a:noFill/>
          </a:ln>
        </p:spPr>
      </p:pic>
      <p:pic>
        <p:nvPicPr>
          <p:cNvPr id="137" name="Google Shape;137;p15" descr="image.png"/>
          <p:cNvPicPr preferRelativeResize="0"/>
          <p:nvPr/>
        </p:nvPicPr>
        <p:blipFill rotWithShape="1">
          <a:blip r:embed="rId6">
            <a:alphaModFix/>
          </a:blip>
          <a:srcRect/>
          <a:stretch/>
        </p:blipFill>
        <p:spPr>
          <a:xfrm>
            <a:off x="6581775" y="2800350"/>
            <a:ext cx="85725" cy="142875"/>
          </a:xfrm>
          <a:prstGeom prst="rect">
            <a:avLst/>
          </a:prstGeom>
          <a:noFill/>
          <a:ln>
            <a:noFill/>
          </a:ln>
        </p:spPr>
      </p:pic>
      <p:pic>
        <p:nvPicPr>
          <p:cNvPr id="138" name="Google Shape;138;p15" descr="image.png"/>
          <p:cNvPicPr preferRelativeResize="0"/>
          <p:nvPr/>
        </p:nvPicPr>
        <p:blipFill rotWithShape="1">
          <a:blip r:embed="rId6">
            <a:alphaModFix/>
          </a:blip>
          <a:srcRect/>
          <a:stretch/>
        </p:blipFill>
        <p:spPr>
          <a:xfrm>
            <a:off x="6581775" y="3463230"/>
            <a:ext cx="85725" cy="142875"/>
          </a:xfrm>
          <a:prstGeom prst="rect">
            <a:avLst/>
          </a:prstGeom>
          <a:noFill/>
          <a:ln>
            <a:noFill/>
          </a:ln>
        </p:spPr>
      </p:pic>
      <p:pic>
        <p:nvPicPr>
          <p:cNvPr id="139" name="Google Shape;139;p15" descr="image.png"/>
          <p:cNvPicPr preferRelativeResize="0"/>
          <p:nvPr/>
        </p:nvPicPr>
        <p:blipFill rotWithShape="1">
          <a:blip r:embed="rId6">
            <a:alphaModFix/>
          </a:blip>
          <a:srcRect/>
          <a:stretch/>
        </p:blipFill>
        <p:spPr>
          <a:xfrm>
            <a:off x="6581775" y="4126110"/>
            <a:ext cx="85725" cy="142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A0E24"/>
        </a:solidFill>
        <a:effectLst/>
      </p:bgPr>
    </p:bg>
    <p:spTree>
      <p:nvGrpSpPr>
        <p:cNvPr id="1" name="Shape 143"/>
        <p:cNvGrpSpPr/>
        <p:nvPr/>
      </p:nvGrpSpPr>
      <p:grpSpPr>
        <a:xfrm>
          <a:off x="0" y="0"/>
          <a:ext cx="0" cy="0"/>
          <a:chOff x="0" y="0"/>
          <a:chExt cx="0" cy="0"/>
        </a:xfrm>
      </p:grpSpPr>
      <p:pic>
        <p:nvPicPr>
          <p:cNvPr id="144" name="Google Shape;144;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6" descr="image.png"/>
          <p:cNvPicPr preferRelativeResize="0"/>
          <p:nvPr/>
        </p:nvPicPr>
        <p:blipFill rotWithShape="1">
          <a:blip r:embed="rId4">
            <a:alphaModFix/>
          </a:blip>
          <a:srcRect/>
          <a:stretch/>
        </p:blipFill>
        <p:spPr>
          <a:xfrm>
            <a:off x="571500" y="1619250"/>
            <a:ext cx="5334000" cy="4857750"/>
          </a:xfrm>
          <a:prstGeom prst="rect">
            <a:avLst/>
          </a:prstGeom>
          <a:noFill/>
          <a:ln>
            <a:noFill/>
          </a:ln>
        </p:spPr>
      </p:pic>
      <p:pic>
        <p:nvPicPr>
          <p:cNvPr id="146" name="Google Shape;146;p16" descr="image.png"/>
          <p:cNvPicPr preferRelativeResize="0"/>
          <p:nvPr/>
        </p:nvPicPr>
        <p:blipFill rotWithShape="1">
          <a:blip r:embed="rId5">
            <a:alphaModFix/>
          </a:blip>
          <a:srcRect/>
          <a:stretch/>
        </p:blipFill>
        <p:spPr>
          <a:xfrm>
            <a:off x="6286500" y="2324100"/>
            <a:ext cx="5334000" cy="3352175"/>
          </a:xfrm>
          <a:prstGeom prst="rect">
            <a:avLst/>
          </a:prstGeom>
          <a:noFill/>
          <a:ln>
            <a:noFill/>
          </a:ln>
        </p:spPr>
      </p:pic>
      <p:sp>
        <p:nvSpPr>
          <p:cNvPr id="147" name="Google Shape;147;p16"/>
          <p:cNvSpPr txBox="1"/>
          <p:nvPr/>
        </p:nvSpPr>
        <p:spPr>
          <a:xfrm>
            <a:off x="866775" y="1914525"/>
            <a:ext cx="498062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7B2D8"/>
                </a:solidFill>
                <a:latin typeface="Poppins"/>
                <a:ea typeface="Poppins"/>
                <a:cs typeface="Poppins"/>
                <a:sym typeface="Poppins"/>
              </a:rPr>
              <a:t>Movie Production Trends</a:t>
            </a:r>
            <a:endParaRPr/>
          </a:p>
        </p:txBody>
      </p:sp>
      <p:sp>
        <p:nvSpPr>
          <p:cNvPr id="148" name="Google Shape;148;p16"/>
          <p:cNvSpPr/>
          <p:nvPr/>
        </p:nvSpPr>
        <p:spPr>
          <a:xfrm>
            <a:off x="866775" y="2409825"/>
            <a:ext cx="4743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9" name="Google Shape;149;p16" title="2.png"/>
          <p:cNvPicPr preferRelativeResize="0"/>
          <p:nvPr/>
        </p:nvPicPr>
        <p:blipFill rotWithShape="1">
          <a:blip r:embed="rId6">
            <a:alphaModFix/>
          </a:blip>
          <a:srcRect/>
          <a:stretch/>
        </p:blipFill>
        <p:spPr>
          <a:xfrm>
            <a:off x="6286500" y="2480322"/>
            <a:ext cx="5334000" cy="2994478"/>
          </a:xfrm>
          <a:prstGeom prst="rect">
            <a:avLst/>
          </a:prstGeom>
          <a:noFill/>
          <a:ln>
            <a:noFill/>
          </a:ln>
        </p:spPr>
      </p:pic>
      <p:sp>
        <p:nvSpPr>
          <p:cNvPr id="150" name="Google Shape;150;p16"/>
          <p:cNvSpPr txBox="1"/>
          <p:nvPr/>
        </p:nvSpPr>
        <p:spPr>
          <a:xfrm>
            <a:off x="1104900" y="276225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1920-1990 (Slow Growth):</a:t>
            </a:r>
            <a:r>
              <a:rPr lang="en-US" sz="1350" b="0" i="0" u="none" strike="noStrike" cap="none">
                <a:solidFill>
                  <a:srgbClr val="F0F0F0"/>
                </a:solidFill>
                <a:latin typeface="Lato"/>
                <a:ea typeface="Lato"/>
                <a:cs typeface="Lato"/>
                <a:sym typeface="Lato"/>
              </a:rPr>
              <a:t> Stable, low volume of 1-15 releases per year.</a:t>
            </a:r>
            <a:endParaRPr/>
          </a:p>
        </p:txBody>
      </p:sp>
      <p:sp>
        <p:nvSpPr>
          <p:cNvPr id="151" name="Google Shape;151;p16"/>
          <p:cNvSpPr txBox="1"/>
          <p:nvPr/>
        </p:nvSpPr>
        <p:spPr>
          <a:xfrm>
            <a:off x="1104900" y="342513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Post-1990 (Production Boom):</a:t>
            </a:r>
            <a:r>
              <a:rPr lang="en-US" sz="1350" b="0" i="0" u="none" strike="noStrike" cap="none">
                <a:solidFill>
                  <a:srgbClr val="F0F0F0"/>
                </a:solidFill>
                <a:latin typeface="Lato"/>
                <a:ea typeface="Lato"/>
                <a:cs typeface="Lato"/>
                <a:sym typeface="Lato"/>
              </a:rPr>
              <a:t> A dramatic and sustained increase in releases.</a:t>
            </a:r>
            <a:endParaRPr/>
          </a:p>
        </p:txBody>
      </p:sp>
      <p:sp>
        <p:nvSpPr>
          <p:cNvPr id="152" name="Google Shape;152;p16"/>
          <p:cNvSpPr txBox="1"/>
          <p:nvPr/>
        </p:nvSpPr>
        <p:spPr>
          <a:xfrm>
            <a:off x="1104900" y="408801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2000-2017 (Peak Production):</a:t>
            </a:r>
            <a:r>
              <a:rPr lang="en-US" sz="1350" b="0" i="0" u="none" strike="noStrike" cap="none">
                <a:solidFill>
                  <a:srgbClr val="F0F0F0"/>
                </a:solidFill>
                <a:latin typeface="Lato"/>
                <a:ea typeface="Lato"/>
                <a:cs typeface="Lato"/>
                <a:sym typeface="Lato"/>
              </a:rPr>
              <a:t> The highest counts and volatility, with peaks in 2004 (31) and 2014 (32).</a:t>
            </a:r>
            <a:endParaRPr/>
          </a:p>
        </p:txBody>
      </p:sp>
      <p:sp>
        <p:nvSpPr>
          <p:cNvPr id="153" name="Google Shape;153;p16"/>
          <p:cNvSpPr txBox="1"/>
          <p:nvPr/>
        </p:nvSpPr>
        <p:spPr>
          <a:xfrm>
            <a:off x="1104900" y="4750891"/>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Post-2018 (Recent Dip):</a:t>
            </a:r>
            <a:r>
              <a:rPr lang="en-US" sz="1350" b="0" i="0" u="none" strike="noStrike" cap="none">
                <a:solidFill>
                  <a:srgbClr val="F0F0F0"/>
                </a:solidFill>
                <a:latin typeface="Lato"/>
                <a:ea typeface="Lato"/>
                <a:cs typeface="Lato"/>
                <a:sym typeface="Lato"/>
              </a:rPr>
              <a:t> A sharp decline, possibly due to data lag or external factors.</a:t>
            </a:r>
            <a:endParaRPr/>
          </a:p>
        </p:txBody>
      </p:sp>
      <p:sp>
        <p:nvSpPr>
          <p:cNvPr id="154" name="Google Shape;154;p16"/>
          <p:cNvSpPr txBox="1"/>
          <p:nvPr/>
        </p:nvSpPr>
        <p:spPr>
          <a:xfrm>
            <a:off x="571500" y="381000"/>
            <a:ext cx="11601450" cy="714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67B2D8"/>
                </a:solidFill>
                <a:latin typeface="Poppins"/>
                <a:ea typeface="Poppins"/>
                <a:cs typeface="Poppins"/>
                <a:sym typeface="Poppins"/>
              </a:rPr>
              <a:t>Insights from Excel</a:t>
            </a:r>
            <a:endParaRPr/>
          </a:p>
        </p:txBody>
      </p:sp>
      <p:sp>
        <p:nvSpPr>
          <p:cNvPr id="155" name="Google Shape;155;p16"/>
          <p:cNvSpPr/>
          <p:nvPr/>
        </p:nvSpPr>
        <p:spPr>
          <a:xfrm>
            <a:off x="571500" y="1209675"/>
            <a:ext cx="11049000" cy="28575"/>
          </a:xfrm>
          <a:prstGeom prst="rect">
            <a:avLst/>
          </a:prstGeom>
          <a:solidFill>
            <a:srgbClr val="BF12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6" name="Google Shape;156;p16" descr="image.png"/>
          <p:cNvPicPr preferRelativeResize="0"/>
          <p:nvPr/>
        </p:nvPicPr>
        <p:blipFill rotWithShape="1">
          <a:blip r:embed="rId7">
            <a:alphaModFix/>
          </a:blip>
          <a:srcRect/>
          <a:stretch/>
        </p:blipFill>
        <p:spPr>
          <a:xfrm>
            <a:off x="866775" y="2800350"/>
            <a:ext cx="85725" cy="142875"/>
          </a:xfrm>
          <a:prstGeom prst="rect">
            <a:avLst/>
          </a:prstGeom>
          <a:noFill/>
          <a:ln>
            <a:noFill/>
          </a:ln>
        </p:spPr>
      </p:pic>
      <p:pic>
        <p:nvPicPr>
          <p:cNvPr id="157" name="Google Shape;157;p16" descr="image.png"/>
          <p:cNvPicPr preferRelativeResize="0"/>
          <p:nvPr/>
        </p:nvPicPr>
        <p:blipFill rotWithShape="1">
          <a:blip r:embed="rId7">
            <a:alphaModFix/>
          </a:blip>
          <a:srcRect/>
          <a:stretch/>
        </p:blipFill>
        <p:spPr>
          <a:xfrm>
            <a:off x="866775" y="3463230"/>
            <a:ext cx="85725" cy="142875"/>
          </a:xfrm>
          <a:prstGeom prst="rect">
            <a:avLst/>
          </a:prstGeom>
          <a:noFill/>
          <a:ln>
            <a:noFill/>
          </a:ln>
        </p:spPr>
      </p:pic>
      <p:pic>
        <p:nvPicPr>
          <p:cNvPr id="158" name="Google Shape;158;p16" descr="image.png"/>
          <p:cNvPicPr preferRelativeResize="0"/>
          <p:nvPr/>
        </p:nvPicPr>
        <p:blipFill rotWithShape="1">
          <a:blip r:embed="rId7">
            <a:alphaModFix/>
          </a:blip>
          <a:srcRect/>
          <a:stretch/>
        </p:blipFill>
        <p:spPr>
          <a:xfrm>
            <a:off x="866775" y="4126110"/>
            <a:ext cx="85725" cy="142875"/>
          </a:xfrm>
          <a:prstGeom prst="rect">
            <a:avLst/>
          </a:prstGeom>
          <a:noFill/>
          <a:ln>
            <a:noFill/>
          </a:ln>
        </p:spPr>
      </p:pic>
      <p:pic>
        <p:nvPicPr>
          <p:cNvPr id="159" name="Google Shape;159;p16" descr="image.png"/>
          <p:cNvPicPr preferRelativeResize="0"/>
          <p:nvPr/>
        </p:nvPicPr>
        <p:blipFill rotWithShape="1">
          <a:blip r:embed="rId7">
            <a:alphaModFix/>
          </a:blip>
          <a:srcRect/>
          <a:stretch/>
        </p:blipFill>
        <p:spPr>
          <a:xfrm>
            <a:off x="866775" y="4788991"/>
            <a:ext cx="85725" cy="142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A0E24"/>
        </a:solidFill>
        <a:effectLst/>
      </p:bgPr>
    </p:bg>
    <p:spTree>
      <p:nvGrpSpPr>
        <p:cNvPr id="1" name="Shape 163"/>
        <p:cNvGrpSpPr/>
        <p:nvPr/>
      </p:nvGrpSpPr>
      <p:grpSpPr>
        <a:xfrm>
          <a:off x="0" y="0"/>
          <a:ext cx="0" cy="0"/>
          <a:chOff x="0" y="0"/>
          <a:chExt cx="0" cy="0"/>
        </a:xfrm>
      </p:grpSpPr>
      <p:pic>
        <p:nvPicPr>
          <p:cNvPr id="164" name="Google Shape;164;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5" name="Google Shape;165;p17" descr="image.png"/>
          <p:cNvPicPr preferRelativeResize="0"/>
          <p:nvPr/>
        </p:nvPicPr>
        <p:blipFill rotWithShape="1">
          <a:blip r:embed="rId4">
            <a:alphaModFix/>
          </a:blip>
          <a:srcRect/>
          <a:stretch/>
        </p:blipFill>
        <p:spPr>
          <a:xfrm>
            <a:off x="571500" y="1619250"/>
            <a:ext cx="5334000" cy="4857750"/>
          </a:xfrm>
          <a:prstGeom prst="rect">
            <a:avLst/>
          </a:prstGeom>
          <a:noFill/>
          <a:ln>
            <a:noFill/>
          </a:ln>
        </p:spPr>
      </p:pic>
      <p:pic>
        <p:nvPicPr>
          <p:cNvPr id="166" name="Google Shape;166;p17" descr="image.png"/>
          <p:cNvPicPr preferRelativeResize="0"/>
          <p:nvPr/>
        </p:nvPicPr>
        <p:blipFill rotWithShape="1">
          <a:blip r:embed="rId4">
            <a:alphaModFix/>
          </a:blip>
          <a:srcRect/>
          <a:stretch/>
        </p:blipFill>
        <p:spPr>
          <a:xfrm>
            <a:off x="6286500" y="1619250"/>
            <a:ext cx="5334000" cy="4857750"/>
          </a:xfrm>
          <a:prstGeom prst="rect">
            <a:avLst/>
          </a:prstGeom>
          <a:noFill/>
          <a:ln>
            <a:noFill/>
          </a:ln>
        </p:spPr>
      </p:pic>
      <p:pic>
        <p:nvPicPr>
          <p:cNvPr id="167" name="Google Shape;167;p17" descr="image.png"/>
          <p:cNvPicPr preferRelativeResize="0"/>
          <p:nvPr/>
        </p:nvPicPr>
        <p:blipFill rotWithShape="1">
          <a:blip r:embed="rId5">
            <a:alphaModFix/>
          </a:blip>
          <a:srcRect/>
          <a:stretch/>
        </p:blipFill>
        <p:spPr>
          <a:xfrm>
            <a:off x="11220450" y="381000"/>
            <a:ext cx="400050" cy="457200"/>
          </a:xfrm>
          <a:prstGeom prst="rect">
            <a:avLst/>
          </a:prstGeom>
          <a:noFill/>
          <a:ln>
            <a:noFill/>
          </a:ln>
        </p:spPr>
      </p:pic>
      <p:sp>
        <p:nvSpPr>
          <p:cNvPr id="168" name="Google Shape;168;p17"/>
          <p:cNvSpPr txBox="1"/>
          <p:nvPr/>
        </p:nvSpPr>
        <p:spPr>
          <a:xfrm>
            <a:off x="866775" y="1914525"/>
            <a:ext cx="498062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7B2D8"/>
                </a:solidFill>
                <a:latin typeface="Poppins"/>
                <a:ea typeface="Poppins"/>
                <a:cs typeface="Poppins"/>
                <a:sym typeface="Poppins"/>
              </a:rPr>
              <a:t>Data Ingestion &amp; Wrangling</a:t>
            </a:r>
            <a:endParaRPr/>
          </a:p>
        </p:txBody>
      </p:sp>
      <p:sp>
        <p:nvSpPr>
          <p:cNvPr id="169" name="Google Shape;169;p17"/>
          <p:cNvSpPr/>
          <p:nvPr/>
        </p:nvSpPr>
        <p:spPr>
          <a:xfrm>
            <a:off x="866775" y="2409825"/>
            <a:ext cx="4743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17"/>
          <p:cNvSpPr txBox="1"/>
          <p:nvPr/>
        </p:nvSpPr>
        <p:spPr>
          <a:xfrm>
            <a:off x="6581775" y="1914525"/>
            <a:ext cx="498062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7B2D8"/>
                </a:solidFill>
                <a:latin typeface="Poppins"/>
                <a:ea typeface="Poppins"/>
                <a:cs typeface="Poppins"/>
                <a:sym typeface="Poppins"/>
              </a:rPr>
              <a:t>Exploratory Data Visualization</a:t>
            </a:r>
            <a:endParaRPr/>
          </a:p>
        </p:txBody>
      </p:sp>
      <p:sp>
        <p:nvSpPr>
          <p:cNvPr id="171" name="Google Shape;171;p17"/>
          <p:cNvSpPr/>
          <p:nvPr/>
        </p:nvSpPr>
        <p:spPr>
          <a:xfrm>
            <a:off x="6581775" y="2409825"/>
            <a:ext cx="4743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17"/>
          <p:cNvSpPr txBox="1"/>
          <p:nvPr/>
        </p:nvSpPr>
        <p:spPr>
          <a:xfrm>
            <a:off x="1104900" y="276225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Data ingestion performed using the Pandas library, establishing a DataFrame structure.</a:t>
            </a:r>
            <a:endParaRPr/>
          </a:p>
        </p:txBody>
      </p:sp>
      <p:sp>
        <p:nvSpPr>
          <p:cNvPr id="173" name="Google Shape;173;p17"/>
          <p:cNvSpPr txBox="1"/>
          <p:nvPr/>
        </p:nvSpPr>
        <p:spPr>
          <a:xfrm>
            <a:off x="1104900" y="3425130"/>
            <a:ext cx="45053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Comprehensive quality checks implemented.</a:t>
            </a:r>
            <a:endParaRPr/>
          </a:p>
        </p:txBody>
      </p:sp>
      <p:sp>
        <p:nvSpPr>
          <p:cNvPr id="174" name="Google Shape;174;p17"/>
          <p:cNvSpPr txBox="1"/>
          <p:nvPr/>
        </p:nvSpPr>
        <p:spPr>
          <a:xfrm>
            <a:off x="1104900" y="381372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fillna()</a:t>
            </a:r>
            <a:r>
              <a:rPr lang="en-US" sz="1350" b="0" i="0" u="none" strike="noStrike" cap="none">
                <a:solidFill>
                  <a:srgbClr val="F0F0F0"/>
                </a:solidFill>
                <a:latin typeface="Lato"/>
                <a:ea typeface="Lato"/>
                <a:cs typeface="Lato"/>
                <a:sym typeface="Lato"/>
              </a:rPr>
              <a:t> applied to perform mean imputation on specific columns.</a:t>
            </a:r>
            <a:endParaRPr/>
          </a:p>
        </p:txBody>
      </p:sp>
      <p:sp>
        <p:nvSpPr>
          <p:cNvPr id="175" name="Google Shape;175;p17"/>
          <p:cNvSpPr txBox="1"/>
          <p:nvPr/>
        </p:nvSpPr>
        <p:spPr>
          <a:xfrm>
            <a:off x="1104900" y="4476601"/>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dropna()</a:t>
            </a:r>
            <a:r>
              <a:rPr lang="en-US" sz="1350" b="0" i="0" u="none" strike="noStrike" cap="none">
                <a:solidFill>
                  <a:srgbClr val="F0F0F0"/>
                </a:solidFill>
                <a:latin typeface="Lato"/>
                <a:ea typeface="Lato"/>
                <a:cs typeface="Lato"/>
                <a:sym typeface="Lato"/>
              </a:rPr>
              <a:t> used to systematically remove rows containing null values that could not be logically imputed.</a:t>
            </a:r>
            <a:endParaRPr/>
          </a:p>
        </p:txBody>
      </p:sp>
      <p:sp>
        <p:nvSpPr>
          <p:cNvPr id="176" name="Google Shape;176;p17"/>
          <p:cNvSpPr txBox="1"/>
          <p:nvPr/>
        </p:nvSpPr>
        <p:spPr>
          <a:xfrm>
            <a:off x="6819900" y="2762250"/>
            <a:ext cx="450532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Bivariate Analysis (Scatter Plot):</a:t>
            </a:r>
            <a:r>
              <a:rPr lang="en-US" sz="1350" b="0" i="0" u="none" strike="noStrike" cap="none">
                <a:solidFill>
                  <a:srgbClr val="F0F0F0"/>
                </a:solidFill>
                <a:latin typeface="Lato"/>
                <a:ea typeface="Lato"/>
                <a:cs typeface="Lato"/>
                <a:sym typeface="Lato"/>
              </a:rPr>
              <a:t> Visualized the distribution of movies based on Gross Revenue and IMDb Rating to find correlation.</a:t>
            </a:r>
            <a:endParaRPr/>
          </a:p>
        </p:txBody>
      </p:sp>
      <p:sp>
        <p:nvSpPr>
          <p:cNvPr id="177" name="Google Shape;177;p17"/>
          <p:cNvSpPr txBox="1"/>
          <p:nvPr/>
        </p:nvSpPr>
        <p:spPr>
          <a:xfrm>
            <a:off x="6819900" y="369942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Categorical Analysis (Bar Plot):</a:t>
            </a:r>
            <a:r>
              <a:rPr lang="en-US" sz="1350" b="0" i="0" u="none" strike="noStrike" cap="none">
                <a:solidFill>
                  <a:srgbClr val="F0F0F0"/>
                </a:solidFill>
                <a:latin typeface="Lato"/>
                <a:ea typeface="Lato"/>
                <a:cs typeface="Lato"/>
                <a:sym typeface="Lato"/>
              </a:rPr>
              <a:t> Generated to compare mean IMDb Rating across different movie certification categories.</a:t>
            </a:r>
            <a:endParaRPr/>
          </a:p>
        </p:txBody>
      </p:sp>
      <p:sp>
        <p:nvSpPr>
          <p:cNvPr id="178" name="Google Shape;178;p17"/>
          <p:cNvSpPr txBox="1"/>
          <p:nvPr/>
        </p:nvSpPr>
        <p:spPr>
          <a:xfrm>
            <a:off x="6819900" y="4362301"/>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Correlation Matrix (Heatmap):</a:t>
            </a:r>
            <a:r>
              <a:rPr lang="en-US" sz="1350" b="0" i="0" u="none" strike="noStrike" cap="none">
                <a:solidFill>
                  <a:srgbClr val="F0F0F0"/>
                </a:solidFill>
                <a:latin typeface="Lato"/>
                <a:ea typeface="Lato"/>
                <a:cs typeface="Lato"/>
                <a:sym typeface="Lato"/>
              </a:rPr>
              <a:t> Displayed to assess linear relationships between all numerical variable pairs.</a:t>
            </a:r>
            <a:endParaRPr/>
          </a:p>
        </p:txBody>
      </p:sp>
      <p:sp>
        <p:nvSpPr>
          <p:cNvPr id="179" name="Google Shape;179;p17"/>
          <p:cNvSpPr txBox="1"/>
          <p:nvPr/>
        </p:nvSpPr>
        <p:spPr>
          <a:xfrm>
            <a:off x="571500" y="381000"/>
            <a:ext cx="11601450" cy="714375"/>
          </a:xfrm>
          <a:prstGeom prst="rect">
            <a:avLst/>
          </a:prstGeom>
          <a:noFill/>
          <a:ln>
            <a:noFill/>
          </a:ln>
        </p:spPr>
        <p:txBody>
          <a:bodyPr spcFirstLastPara="1" wrap="square" lIns="400050" tIns="0" rIns="0" bIns="0" anchor="t" anchorCtr="0">
            <a:spAutoFit/>
          </a:bodyPr>
          <a:lstStyle/>
          <a:p>
            <a:pPr marL="0" marR="0" lvl="0" indent="0" algn="l" rtl="0">
              <a:spcBef>
                <a:spcPts val="0"/>
              </a:spcBef>
              <a:spcAft>
                <a:spcPts val="0"/>
              </a:spcAft>
              <a:buNone/>
            </a:pPr>
            <a:r>
              <a:rPr lang="en-US" sz="3600" b="1" i="0" u="none" strike="noStrike" cap="none">
                <a:solidFill>
                  <a:srgbClr val="67B2D8"/>
                </a:solidFill>
                <a:latin typeface="Poppins"/>
                <a:ea typeface="Poppins"/>
                <a:cs typeface="Poppins"/>
                <a:sym typeface="Poppins"/>
              </a:rPr>
              <a:t>Python Methodology </a:t>
            </a:r>
            <a:endParaRPr/>
          </a:p>
        </p:txBody>
      </p:sp>
      <p:sp>
        <p:nvSpPr>
          <p:cNvPr id="180" name="Google Shape;180;p17"/>
          <p:cNvSpPr/>
          <p:nvPr/>
        </p:nvSpPr>
        <p:spPr>
          <a:xfrm>
            <a:off x="571500" y="1209675"/>
            <a:ext cx="11049000" cy="28575"/>
          </a:xfrm>
          <a:prstGeom prst="rect">
            <a:avLst/>
          </a:prstGeom>
          <a:solidFill>
            <a:srgbClr val="BF12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1" name="Google Shape;181;p17" descr="image.png"/>
          <p:cNvPicPr preferRelativeResize="0"/>
          <p:nvPr/>
        </p:nvPicPr>
        <p:blipFill rotWithShape="1">
          <a:blip r:embed="rId6">
            <a:alphaModFix/>
          </a:blip>
          <a:srcRect/>
          <a:stretch/>
        </p:blipFill>
        <p:spPr>
          <a:xfrm>
            <a:off x="866775" y="2800350"/>
            <a:ext cx="85725" cy="142875"/>
          </a:xfrm>
          <a:prstGeom prst="rect">
            <a:avLst/>
          </a:prstGeom>
          <a:noFill/>
          <a:ln>
            <a:noFill/>
          </a:ln>
        </p:spPr>
      </p:pic>
      <p:pic>
        <p:nvPicPr>
          <p:cNvPr id="182" name="Google Shape;182;p17" descr="image.png"/>
          <p:cNvPicPr preferRelativeResize="0"/>
          <p:nvPr/>
        </p:nvPicPr>
        <p:blipFill rotWithShape="1">
          <a:blip r:embed="rId6">
            <a:alphaModFix/>
          </a:blip>
          <a:srcRect/>
          <a:stretch/>
        </p:blipFill>
        <p:spPr>
          <a:xfrm>
            <a:off x="866775" y="3463230"/>
            <a:ext cx="85725" cy="142875"/>
          </a:xfrm>
          <a:prstGeom prst="rect">
            <a:avLst/>
          </a:prstGeom>
          <a:noFill/>
          <a:ln>
            <a:noFill/>
          </a:ln>
        </p:spPr>
      </p:pic>
      <p:pic>
        <p:nvPicPr>
          <p:cNvPr id="183" name="Google Shape;183;p17" descr="image.png"/>
          <p:cNvPicPr preferRelativeResize="0"/>
          <p:nvPr/>
        </p:nvPicPr>
        <p:blipFill rotWithShape="1">
          <a:blip r:embed="rId6">
            <a:alphaModFix/>
          </a:blip>
          <a:srcRect/>
          <a:stretch/>
        </p:blipFill>
        <p:spPr>
          <a:xfrm>
            <a:off x="866775" y="3851820"/>
            <a:ext cx="85725" cy="142875"/>
          </a:xfrm>
          <a:prstGeom prst="rect">
            <a:avLst/>
          </a:prstGeom>
          <a:noFill/>
          <a:ln>
            <a:noFill/>
          </a:ln>
        </p:spPr>
      </p:pic>
      <p:pic>
        <p:nvPicPr>
          <p:cNvPr id="184" name="Google Shape;184;p17" descr="image.png"/>
          <p:cNvPicPr preferRelativeResize="0"/>
          <p:nvPr/>
        </p:nvPicPr>
        <p:blipFill rotWithShape="1">
          <a:blip r:embed="rId6">
            <a:alphaModFix/>
          </a:blip>
          <a:srcRect/>
          <a:stretch/>
        </p:blipFill>
        <p:spPr>
          <a:xfrm>
            <a:off x="866775" y="4514701"/>
            <a:ext cx="85725" cy="142875"/>
          </a:xfrm>
          <a:prstGeom prst="rect">
            <a:avLst/>
          </a:prstGeom>
          <a:noFill/>
          <a:ln>
            <a:noFill/>
          </a:ln>
        </p:spPr>
      </p:pic>
      <p:pic>
        <p:nvPicPr>
          <p:cNvPr id="185" name="Google Shape;185;p17" descr="image.png"/>
          <p:cNvPicPr preferRelativeResize="0"/>
          <p:nvPr/>
        </p:nvPicPr>
        <p:blipFill rotWithShape="1">
          <a:blip r:embed="rId6">
            <a:alphaModFix/>
          </a:blip>
          <a:srcRect/>
          <a:stretch/>
        </p:blipFill>
        <p:spPr>
          <a:xfrm>
            <a:off x="6581775" y="2800350"/>
            <a:ext cx="85725" cy="142875"/>
          </a:xfrm>
          <a:prstGeom prst="rect">
            <a:avLst/>
          </a:prstGeom>
          <a:noFill/>
          <a:ln>
            <a:noFill/>
          </a:ln>
        </p:spPr>
      </p:pic>
      <p:pic>
        <p:nvPicPr>
          <p:cNvPr id="186" name="Google Shape;186;p17" descr="image.png"/>
          <p:cNvPicPr preferRelativeResize="0"/>
          <p:nvPr/>
        </p:nvPicPr>
        <p:blipFill rotWithShape="1">
          <a:blip r:embed="rId6">
            <a:alphaModFix/>
          </a:blip>
          <a:srcRect/>
          <a:stretch/>
        </p:blipFill>
        <p:spPr>
          <a:xfrm>
            <a:off x="6581775" y="3737520"/>
            <a:ext cx="85725" cy="142875"/>
          </a:xfrm>
          <a:prstGeom prst="rect">
            <a:avLst/>
          </a:prstGeom>
          <a:noFill/>
          <a:ln>
            <a:noFill/>
          </a:ln>
        </p:spPr>
      </p:pic>
      <p:pic>
        <p:nvPicPr>
          <p:cNvPr id="187" name="Google Shape;187;p17" descr="image.png"/>
          <p:cNvPicPr preferRelativeResize="0"/>
          <p:nvPr/>
        </p:nvPicPr>
        <p:blipFill rotWithShape="1">
          <a:blip r:embed="rId6">
            <a:alphaModFix/>
          </a:blip>
          <a:srcRect/>
          <a:stretch/>
        </p:blipFill>
        <p:spPr>
          <a:xfrm>
            <a:off x="6581775" y="4400401"/>
            <a:ext cx="85725" cy="142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A0E24"/>
        </a:solidFill>
        <a:effectLst/>
      </p:bgPr>
    </p:bg>
    <p:spTree>
      <p:nvGrpSpPr>
        <p:cNvPr id="1" name="Shape 191"/>
        <p:cNvGrpSpPr/>
        <p:nvPr/>
      </p:nvGrpSpPr>
      <p:grpSpPr>
        <a:xfrm>
          <a:off x="0" y="0"/>
          <a:ext cx="0" cy="0"/>
          <a:chOff x="0" y="0"/>
          <a:chExt cx="0" cy="0"/>
        </a:xfrm>
      </p:grpSpPr>
      <p:pic>
        <p:nvPicPr>
          <p:cNvPr id="192" name="Google Shape;192;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3" name="Google Shape;193;p18" title="6.png"/>
          <p:cNvPicPr preferRelativeResize="0"/>
          <p:nvPr/>
        </p:nvPicPr>
        <p:blipFill rotWithShape="1">
          <a:blip r:embed="rId4">
            <a:alphaModFix/>
          </a:blip>
          <a:srcRect t="11239" b="11247"/>
          <a:stretch/>
        </p:blipFill>
        <p:spPr>
          <a:xfrm>
            <a:off x="771525" y="1819275"/>
            <a:ext cx="3092350" cy="1714500"/>
          </a:xfrm>
          <a:prstGeom prst="rect">
            <a:avLst/>
          </a:prstGeom>
          <a:noFill/>
          <a:ln>
            <a:noFill/>
          </a:ln>
        </p:spPr>
      </p:pic>
      <p:sp>
        <p:nvSpPr>
          <p:cNvPr id="194" name="Google Shape;194;p18"/>
          <p:cNvSpPr txBox="1"/>
          <p:nvPr/>
        </p:nvSpPr>
        <p:spPr>
          <a:xfrm>
            <a:off x="771525" y="3676650"/>
            <a:ext cx="3092350"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1" i="0" u="none" strike="noStrike" cap="none">
                <a:solidFill>
                  <a:srgbClr val="F0F0F0"/>
                </a:solidFill>
                <a:latin typeface="Lato"/>
                <a:ea typeface="Lato"/>
                <a:cs typeface="Lato"/>
                <a:sym typeface="Lato"/>
              </a:rPr>
              <a:t>Scatter Plot:</a:t>
            </a:r>
            <a:r>
              <a:rPr lang="en-US" sz="1200" b="0" i="0" u="none" strike="noStrike" cap="none">
                <a:solidFill>
                  <a:srgbClr val="F0F0F0"/>
                </a:solidFill>
                <a:latin typeface="Lato"/>
                <a:ea typeface="Lato"/>
                <a:cs typeface="Lato"/>
                <a:sym typeface="Lato"/>
              </a:rPr>
              <a:t> IMDb rating is not a primary predictor of Gross Revenue. Commercial success is decoupled from critical acclaim.</a:t>
            </a:r>
            <a:endParaRPr/>
          </a:p>
        </p:txBody>
      </p:sp>
      <p:pic>
        <p:nvPicPr>
          <p:cNvPr id="195" name="Google Shape;195;p18" title="8.png"/>
          <p:cNvPicPr preferRelativeResize="0"/>
          <p:nvPr/>
        </p:nvPicPr>
        <p:blipFill rotWithShape="1">
          <a:blip r:embed="rId5">
            <a:alphaModFix/>
          </a:blip>
          <a:srcRect t="11064" b="11072"/>
          <a:stretch/>
        </p:blipFill>
        <p:spPr>
          <a:xfrm>
            <a:off x="4549675" y="1819275"/>
            <a:ext cx="3092500" cy="1714499"/>
          </a:xfrm>
          <a:prstGeom prst="rect">
            <a:avLst/>
          </a:prstGeom>
          <a:noFill/>
          <a:ln>
            <a:noFill/>
          </a:ln>
        </p:spPr>
      </p:pic>
      <p:sp>
        <p:nvSpPr>
          <p:cNvPr id="196" name="Google Shape;196;p18"/>
          <p:cNvSpPr txBox="1"/>
          <p:nvPr/>
        </p:nvSpPr>
        <p:spPr>
          <a:xfrm>
            <a:off x="4549675" y="3676650"/>
            <a:ext cx="3092499"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1" i="0" u="none" strike="noStrike" cap="none">
                <a:solidFill>
                  <a:srgbClr val="F0F0F0"/>
                </a:solidFill>
                <a:latin typeface="Lato"/>
                <a:ea typeface="Lato"/>
                <a:cs typeface="Lato"/>
                <a:sym typeface="Lato"/>
              </a:rPr>
              <a:t>Bar Plot:</a:t>
            </a:r>
            <a:r>
              <a:rPr lang="en-US" sz="1200" b="0" i="0" u="none" strike="noStrike" cap="none">
                <a:solidFill>
                  <a:srgbClr val="F0F0F0"/>
                </a:solidFill>
                <a:latin typeface="Lato"/>
                <a:ea typeface="Lato"/>
                <a:cs typeface="Lato"/>
                <a:sym typeface="Lato"/>
              </a:rPr>
              <a:t> Mature content (e.g., 'TV-14', '16', 'TV-MA') achieves higher average IMDb ratings than general audience films.</a:t>
            </a:r>
            <a:endParaRPr/>
          </a:p>
        </p:txBody>
      </p:sp>
      <p:pic>
        <p:nvPicPr>
          <p:cNvPr id="197" name="Google Shape;197;p18" title="10.png"/>
          <p:cNvPicPr preferRelativeResize="0"/>
          <p:nvPr/>
        </p:nvPicPr>
        <p:blipFill rotWithShape="1">
          <a:blip r:embed="rId6">
            <a:alphaModFix/>
          </a:blip>
          <a:srcRect t="10899" b="10907"/>
          <a:stretch/>
        </p:blipFill>
        <p:spPr>
          <a:xfrm>
            <a:off x="8327975" y="1819275"/>
            <a:ext cx="3092351" cy="1714500"/>
          </a:xfrm>
          <a:prstGeom prst="rect">
            <a:avLst/>
          </a:prstGeom>
          <a:noFill/>
          <a:ln>
            <a:noFill/>
          </a:ln>
        </p:spPr>
      </p:pic>
      <p:sp>
        <p:nvSpPr>
          <p:cNvPr id="198" name="Google Shape;198;p18"/>
          <p:cNvSpPr txBox="1"/>
          <p:nvPr/>
        </p:nvSpPr>
        <p:spPr>
          <a:xfrm>
            <a:off x="8327975" y="3676650"/>
            <a:ext cx="3092350"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1" i="0" u="none" strike="noStrike" cap="none">
                <a:solidFill>
                  <a:srgbClr val="F0F0F0"/>
                </a:solidFill>
                <a:latin typeface="Lato"/>
                <a:ea typeface="Lato"/>
                <a:cs typeface="Lato"/>
                <a:sym typeface="Lato"/>
              </a:rPr>
              <a:t>Heatmap:</a:t>
            </a:r>
            <a:r>
              <a:rPr lang="en-US" sz="1200" b="0" i="0" u="none" strike="noStrike" cap="none">
                <a:solidFill>
                  <a:srgbClr val="F0F0F0"/>
                </a:solidFill>
                <a:latin typeface="Lato"/>
                <a:ea typeface="Lato"/>
                <a:cs typeface="Lato"/>
                <a:sym typeface="Lato"/>
              </a:rPr>
              <a:t> The strongest positive correlation (0.60) is between No_of_Votes and Gross Revenue.</a:t>
            </a:r>
            <a:endParaRPr/>
          </a:p>
        </p:txBody>
      </p:sp>
      <p:sp>
        <p:nvSpPr>
          <p:cNvPr id="199" name="Google Shape;199;p18"/>
          <p:cNvSpPr txBox="1"/>
          <p:nvPr/>
        </p:nvSpPr>
        <p:spPr>
          <a:xfrm>
            <a:off x="571500" y="381000"/>
            <a:ext cx="11601450" cy="714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67B2D8"/>
                </a:solidFill>
                <a:latin typeface="Poppins"/>
                <a:ea typeface="Poppins"/>
                <a:cs typeface="Poppins"/>
                <a:sym typeface="Poppins"/>
              </a:rPr>
              <a:t>Insights from Python</a:t>
            </a:r>
            <a:endParaRPr/>
          </a:p>
        </p:txBody>
      </p:sp>
      <p:sp>
        <p:nvSpPr>
          <p:cNvPr id="200" name="Google Shape;200;p18"/>
          <p:cNvSpPr/>
          <p:nvPr/>
        </p:nvSpPr>
        <p:spPr>
          <a:xfrm>
            <a:off x="571500" y="1209675"/>
            <a:ext cx="11049000" cy="28575"/>
          </a:xfrm>
          <a:prstGeom prst="rect">
            <a:avLst/>
          </a:prstGeom>
          <a:solidFill>
            <a:srgbClr val="BF12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5A0E24"/>
        </a:solidFill>
        <a:effectLst/>
      </p:bgPr>
    </p:bg>
    <p:spTree>
      <p:nvGrpSpPr>
        <p:cNvPr id="1" name="Shape 204"/>
        <p:cNvGrpSpPr/>
        <p:nvPr/>
      </p:nvGrpSpPr>
      <p:grpSpPr>
        <a:xfrm>
          <a:off x="0" y="0"/>
          <a:ext cx="0" cy="0"/>
          <a:chOff x="0" y="0"/>
          <a:chExt cx="0" cy="0"/>
        </a:xfrm>
      </p:grpSpPr>
      <p:pic>
        <p:nvPicPr>
          <p:cNvPr id="205" name="Google Shape;205;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6" name="Google Shape;206;p19" descr="image.png"/>
          <p:cNvPicPr preferRelativeResize="0"/>
          <p:nvPr/>
        </p:nvPicPr>
        <p:blipFill rotWithShape="1">
          <a:blip r:embed="rId4">
            <a:alphaModFix/>
          </a:blip>
          <a:srcRect/>
          <a:stretch/>
        </p:blipFill>
        <p:spPr>
          <a:xfrm>
            <a:off x="571500" y="1619250"/>
            <a:ext cx="5334000" cy="4857750"/>
          </a:xfrm>
          <a:prstGeom prst="rect">
            <a:avLst/>
          </a:prstGeom>
          <a:noFill/>
          <a:ln>
            <a:noFill/>
          </a:ln>
        </p:spPr>
      </p:pic>
      <p:pic>
        <p:nvPicPr>
          <p:cNvPr id="207" name="Google Shape;207;p19" descr="image.png"/>
          <p:cNvPicPr preferRelativeResize="0"/>
          <p:nvPr/>
        </p:nvPicPr>
        <p:blipFill rotWithShape="1">
          <a:blip r:embed="rId4">
            <a:alphaModFix/>
          </a:blip>
          <a:srcRect/>
          <a:stretch/>
        </p:blipFill>
        <p:spPr>
          <a:xfrm>
            <a:off x="6286500" y="1619250"/>
            <a:ext cx="5334000" cy="4857750"/>
          </a:xfrm>
          <a:prstGeom prst="rect">
            <a:avLst/>
          </a:prstGeom>
          <a:noFill/>
          <a:ln>
            <a:noFill/>
          </a:ln>
        </p:spPr>
      </p:pic>
      <p:pic>
        <p:nvPicPr>
          <p:cNvPr id="208" name="Google Shape;208;p19" descr="image.png"/>
          <p:cNvPicPr preferRelativeResize="0"/>
          <p:nvPr/>
        </p:nvPicPr>
        <p:blipFill rotWithShape="1">
          <a:blip r:embed="rId5">
            <a:alphaModFix/>
          </a:blip>
          <a:srcRect/>
          <a:stretch/>
        </p:blipFill>
        <p:spPr>
          <a:xfrm>
            <a:off x="11220450" y="381000"/>
            <a:ext cx="400050" cy="457200"/>
          </a:xfrm>
          <a:prstGeom prst="rect">
            <a:avLst/>
          </a:prstGeom>
          <a:noFill/>
          <a:ln>
            <a:noFill/>
          </a:ln>
        </p:spPr>
      </p:pic>
      <p:sp>
        <p:nvSpPr>
          <p:cNvPr id="209" name="Google Shape;209;p19"/>
          <p:cNvSpPr txBox="1"/>
          <p:nvPr/>
        </p:nvSpPr>
        <p:spPr>
          <a:xfrm>
            <a:off x="866775" y="1914525"/>
            <a:ext cx="498062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7B2D8"/>
                </a:solidFill>
                <a:latin typeface="Poppins"/>
                <a:ea typeface="Poppins"/>
                <a:cs typeface="Poppins"/>
                <a:sym typeface="Poppins"/>
              </a:rPr>
              <a:t>Data Model Preparation</a:t>
            </a:r>
            <a:endParaRPr/>
          </a:p>
        </p:txBody>
      </p:sp>
      <p:sp>
        <p:nvSpPr>
          <p:cNvPr id="210" name="Google Shape;210;p19"/>
          <p:cNvSpPr/>
          <p:nvPr/>
        </p:nvSpPr>
        <p:spPr>
          <a:xfrm>
            <a:off x="866775" y="2409825"/>
            <a:ext cx="4743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19"/>
          <p:cNvSpPr txBox="1"/>
          <p:nvPr/>
        </p:nvSpPr>
        <p:spPr>
          <a:xfrm>
            <a:off x="6581775" y="1914525"/>
            <a:ext cx="498062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7B2D8"/>
                </a:solidFill>
                <a:latin typeface="Poppins"/>
                <a:ea typeface="Poppins"/>
                <a:cs typeface="Poppins"/>
                <a:sym typeface="Poppins"/>
              </a:rPr>
              <a:t>Dashboard Visualization</a:t>
            </a:r>
            <a:endParaRPr/>
          </a:p>
        </p:txBody>
      </p:sp>
      <p:sp>
        <p:nvSpPr>
          <p:cNvPr id="212" name="Google Shape;212;p19"/>
          <p:cNvSpPr/>
          <p:nvPr/>
        </p:nvSpPr>
        <p:spPr>
          <a:xfrm>
            <a:off x="6581775" y="2409825"/>
            <a:ext cx="4743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19"/>
          <p:cNvSpPr txBox="1"/>
          <p:nvPr/>
        </p:nvSpPr>
        <p:spPr>
          <a:xfrm>
            <a:off x="1104900" y="276225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The cleaned and processed dataset was imported into the Power BI environment.</a:t>
            </a:r>
            <a:endParaRPr/>
          </a:p>
        </p:txBody>
      </p:sp>
      <p:sp>
        <p:nvSpPr>
          <p:cNvPr id="214" name="Google Shape;214;p19"/>
          <p:cNvSpPr txBox="1"/>
          <p:nvPr/>
        </p:nvSpPr>
        <p:spPr>
          <a:xfrm>
            <a:off x="1104900" y="342513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Data Analysis Expressions (DAX) measures were defined for key metrics:</a:t>
            </a:r>
            <a:endParaRPr/>
          </a:p>
        </p:txBody>
      </p:sp>
      <p:sp>
        <p:nvSpPr>
          <p:cNvPr id="215" name="Google Shape;215;p19"/>
          <p:cNvSpPr txBox="1"/>
          <p:nvPr/>
        </p:nvSpPr>
        <p:spPr>
          <a:xfrm>
            <a:off x="1295400" y="4088010"/>
            <a:ext cx="43148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F0F0F0"/>
                </a:solidFill>
                <a:latin typeface="Lato"/>
                <a:ea typeface="Lato"/>
                <a:cs typeface="Lato"/>
                <a:sym typeface="Lato"/>
              </a:rPr>
              <a:t>Weighted Average Rating</a:t>
            </a:r>
            <a:endParaRPr/>
          </a:p>
        </p:txBody>
      </p:sp>
      <p:sp>
        <p:nvSpPr>
          <p:cNvPr id="216" name="Google Shape;216;p19"/>
          <p:cNvSpPr txBox="1"/>
          <p:nvPr/>
        </p:nvSpPr>
        <p:spPr>
          <a:xfrm>
            <a:off x="1295400" y="4476601"/>
            <a:ext cx="43148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F0F0F0"/>
                </a:solidFill>
                <a:latin typeface="Lato"/>
                <a:ea typeface="Lato"/>
                <a:cs typeface="Lato"/>
                <a:sym typeface="Lato"/>
              </a:rPr>
              <a:t>Total Gross Billions</a:t>
            </a:r>
            <a:endParaRPr/>
          </a:p>
        </p:txBody>
      </p:sp>
      <p:sp>
        <p:nvSpPr>
          <p:cNvPr id="217" name="Google Shape;217;p19"/>
          <p:cNvSpPr txBox="1"/>
          <p:nvPr/>
        </p:nvSpPr>
        <p:spPr>
          <a:xfrm>
            <a:off x="6819900" y="2762250"/>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Key Performance Indicator (KPI) Cards:</a:t>
            </a:r>
            <a:r>
              <a:rPr lang="en-US" sz="1350" b="0" i="0" u="none" strike="noStrike" cap="none">
                <a:solidFill>
                  <a:srgbClr val="F0F0F0"/>
                </a:solidFill>
                <a:latin typeface="Lato"/>
                <a:ea typeface="Lato"/>
                <a:cs typeface="Lato"/>
                <a:sym typeface="Lato"/>
              </a:rPr>
              <a:t> Implemented for immediate visibility into the main performance metrics.</a:t>
            </a:r>
            <a:endParaRPr/>
          </a:p>
        </p:txBody>
      </p:sp>
      <p:sp>
        <p:nvSpPr>
          <p:cNvPr id="218" name="Google Shape;218;p19"/>
          <p:cNvSpPr txBox="1"/>
          <p:nvPr/>
        </p:nvSpPr>
        <p:spPr>
          <a:xfrm>
            <a:off x="6819900" y="3425130"/>
            <a:ext cx="450532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Genre Performance (Line Chart):</a:t>
            </a:r>
            <a:r>
              <a:rPr lang="en-US" sz="1350" b="0" i="0" u="none" strike="noStrike" cap="none">
                <a:solidFill>
                  <a:srgbClr val="F0F0F0"/>
                </a:solidFill>
                <a:latin typeface="Lato"/>
                <a:ea typeface="Lato"/>
                <a:cs typeface="Lato"/>
                <a:sym typeface="Lato"/>
              </a:rPr>
              <a:t> Created to visualize Total Gross Billions by Genre, identifying high-performing markets.</a:t>
            </a:r>
            <a:endParaRPr/>
          </a:p>
        </p:txBody>
      </p:sp>
      <p:sp>
        <p:nvSpPr>
          <p:cNvPr id="219" name="Google Shape;219;p19"/>
          <p:cNvSpPr txBox="1"/>
          <p:nvPr/>
        </p:nvSpPr>
        <p:spPr>
          <a:xfrm>
            <a:off x="6819900" y="4362301"/>
            <a:ext cx="450532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0F0F0"/>
                </a:solidFill>
                <a:latin typeface="Lato"/>
                <a:ea typeface="Lato"/>
                <a:cs typeface="Lato"/>
                <a:sym typeface="Lato"/>
              </a:rPr>
              <a:t>Performance Distribution (Scatter Plot):</a:t>
            </a:r>
            <a:r>
              <a:rPr lang="en-US" sz="1350" b="0" i="0" u="none" strike="noStrike" cap="none">
                <a:solidFill>
                  <a:srgbClr val="F0F0F0"/>
                </a:solidFill>
                <a:latin typeface="Lato"/>
                <a:ea typeface="Lato"/>
                <a:cs typeface="Lato"/>
                <a:sym typeface="Lato"/>
              </a:rPr>
              <a:t> Developed to map the relationship between IMDb Rating and Total Gross Billions.</a:t>
            </a:r>
            <a:endParaRPr/>
          </a:p>
        </p:txBody>
      </p:sp>
      <p:sp>
        <p:nvSpPr>
          <p:cNvPr id="220" name="Google Shape;220;p19"/>
          <p:cNvSpPr txBox="1"/>
          <p:nvPr/>
        </p:nvSpPr>
        <p:spPr>
          <a:xfrm>
            <a:off x="571500" y="381000"/>
            <a:ext cx="11601450" cy="714375"/>
          </a:xfrm>
          <a:prstGeom prst="rect">
            <a:avLst/>
          </a:prstGeom>
          <a:noFill/>
          <a:ln>
            <a:noFill/>
          </a:ln>
        </p:spPr>
        <p:txBody>
          <a:bodyPr spcFirstLastPara="1" wrap="square" lIns="400050" tIns="0" rIns="0" bIns="0" anchor="t" anchorCtr="0">
            <a:spAutoFit/>
          </a:bodyPr>
          <a:lstStyle/>
          <a:p>
            <a:pPr marL="0" marR="0" lvl="0" indent="0" algn="l" rtl="0">
              <a:spcBef>
                <a:spcPts val="0"/>
              </a:spcBef>
              <a:spcAft>
                <a:spcPts val="0"/>
              </a:spcAft>
              <a:buNone/>
            </a:pPr>
            <a:r>
              <a:rPr lang="en-US" sz="3600" b="1" i="0" u="none" strike="noStrike" cap="none">
                <a:solidFill>
                  <a:srgbClr val="67B2D8"/>
                </a:solidFill>
                <a:latin typeface="Poppins"/>
                <a:ea typeface="Poppins"/>
                <a:cs typeface="Poppins"/>
                <a:sym typeface="Poppins"/>
              </a:rPr>
              <a:t>Power BI Methodology</a:t>
            </a:r>
            <a:endParaRPr/>
          </a:p>
        </p:txBody>
      </p:sp>
      <p:sp>
        <p:nvSpPr>
          <p:cNvPr id="221" name="Google Shape;221;p19"/>
          <p:cNvSpPr/>
          <p:nvPr/>
        </p:nvSpPr>
        <p:spPr>
          <a:xfrm>
            <a:off x="571500" y="1209675"/>
            <a:ext cx="11049000" cy="28575"/>
          </a:xfrm>
          <a:prstGeom prst="rect">
            <a:avLst/>
          </a:prstGeom>
          <a:solidFill>
            <a:srgbClr val="BF12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2" name="Google Shape;222;p19" descr="image.png"/>
          <p:cNvPicPr preferRelativeResize="0"/>
          <p:nvPr/>
        </p:nvPicPr>
        <p:blipFill rotWithShape="1">
          <a:blip r:embed="rId6">
            <a:alphaModFix/>
          </a:blip>
          <a:srcRect/>
          <a:stretch/>
        </p:blipFill>
        <p:spPr>
          <a:xfrm>
            <a:off x="866775" y="2800350"/>
            <a:ext cx="85725" cy="142875"/>
          </a:xfrm>
          <a:prstGeom prst="rect">
            <a:avLst/>
          </a:prstGeom>
          <a:noFill/>
          <a:ln>
            <a:noFill/>
          </a:ln>
        </p:spPr>
      </p:pic>
      <p:pic>
        <p:nvPicPr>
          <p:cNvPr id="223" name="Google Shape;223;p19" descr="image.png"/>
          <p:cNvPicPr preferRelativeResize="0"/>
          <p:nvPr/>
        </p:nvPicPr>
        <p:blipFill rotWithShape="1">
          <a:blip r:embed="rId6">
            <a:alphaModFix/>
          </a:blip>
          <a:srcRect/>
          <a:stretch/>
        </p:blipFill>
        <p:spPr>
          <a:xfrm>
            <a:off x="866775" y="3463230"/>
            <a:ext cx="85725" cy="142875"/>
          </a:xfrm>
          <a:prstGeom prst="rect">
            <a:avLst/>
          </a:prstGeom>
          <a:noFill/>
          <a:ln>
            <a:noFill/>
          </a:ln>
        </p:spPr>
      </p:pic>
      <p:pic>
        <p:nvPicPr>
          <p:cNvPr id="224" name="Google Shape;224;p19" descr="image.png"/>
          <p:cNvPicPr preferRelativeResize="0"/>
          <p:nvPr/>
        </p:nvPicPr>
        <p:blipFill rotWithShape="1">
          <a:blip r:embed="rId6">
            <a:alphaModFix/>
          </a:blip>
          <a:srcRect/>
          <a:stretch/>
        </p:blipFill>
        <p:spPr>
          <a:xfrm>
            <a:off x="1057275" y="4126110"/>
            <a:ext cx="85725" cy="142875"/>
          </a:xfrm>
          <a:prstGeom prst="rect">
            <a:avLst/>
          </a:prstGeom>
          <a:noFill/>
          <a:ln>
            <a:noFill/>
          </a:ln>
        </p:spPr>
      </p:pic>
      <p:pic>
        <p:nvPicPr>
          <p:cNvPr id="225" name="Google Shape;225;p19" descr="image.png"/>
          <p:cNvPicPr preferRelativeResize="0"/>
          <p:nvPr/>
        </p:nvPicPr>
        <p:blipFill rotWithShape="1">
          <a:blip r:embed="rId6">
            <a:alphaModFix/>
          </a:blip>
          <a:srcRect/>
          <a:stretch/>
        </p:blipFill>
        <p:spPr>
          <a:xfrm>
            <a:off x="1057275" y="4514701"/>
            <a:ext cx="85725" cy="142875"/>
          </a:xfrm>
          <a:prstGeom prst="rect">
            <a:avLst/>
          </a:prstGeom>
          <a:noFill/>
          <a:ln>
            <a:noFill/>
          </a:ln>
        </p:spPr>
      </p:pic>
      <p:pic>
        <p:nvPicPr>
          <p:cNvPr id="226" name="Google Shape;226;p19" descr="image.png"/>
          <p:cNvPicPr preferRelativeResize="0"/>
          <p:nvPr/>
        </p:nvPicPr>
        <p:blipFill rotWithShape="1">
          <a:blip r:embed="rId6">
            <a:alphaModFix/>
          </a:blip>
          <a:srcRect/>
          <a:stretch/>
        </p:blipFill>
        <p:spPr>
          <a:xfrm>
            <a:off x="6581775" y="2800350"/>
            <a:ext cx="85725" cy="142875"/>
          </a:xfrm>
          <a:prstGeom prst="rect">
            <a:avLst/>
          </a:prstGeom>
          <a:noFill/>
          <a:ln>
            <a:noFill/>
          </a:ln>
        </p:spPr>
      </p:pic>
      <p:pic>
        <p:nvPicPr>
          <p:cNvPr id="227" name="Google Shape;227;p19" descr="image.png"/>
          <p:cNvPicPr preferRelativeResize="0"/>
          <p:nvPr/>
        </p:nvPicPr>
        <p:blipFill rotWithShape="1">
          <a:blip r:embed="rId6">
            <a:alphaModFix/>
          </a:blip>
          <a:srcRect/>
          <a:stretch/>
        </p:blipFill>
        <p:spPr>
          <a:xfrm>
            <a:off x="6581775" y="3463230"/>
            <a:ext cx="85725" cy="142875"/>
          </a:xfrm>
          <a:prstGeom prst="rect">
            <a:avLst/>
          </a:prstGeom>
          <a:noFill/>
          <a:ln>
            <a:noFill/>
          </a:ln>
        </p:spPr>
      </p:pic>
      <p:pic>
        <p:nvPicPr>
          <p:cNvPr id="228" name="Google Shape;228;p19" descr="image.png"/>
          <p:cNvPicPr preferRelativeResize="0"/>
          <p:nvPr/>
        </p:nvPicPr>
        <p:blipFill rotWithShape="1">
          <a:blip r:embed="rId6">
            <a:alphaModFix/>
          </a:blip>
          <a:srcRect/>
          <a:stretch/>
        </p:blipFill>
        <p:spPr>
          <a:xfrm>
            <a:off x="6581775" y="4400401"/>
            <a:ext cx="85725" cy="142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5A0E24"/>
        </a:solidFill>
        <a:effectLst/>
      </p:bgPr>
    </p:bg>
    <p:spTree>
      <p:nvGrpSpPr>
        <p:cNvPr id="1" name="Shape 232"/>
        <p:cNvGrpSpPr/>
        <p:nvPr/>
      </p:nvGrpSpPr>
      <p:grpSpPr>
        <a:xfrm>
          <a:off x="0" y="0"/>
          <a:ext cx="0" cy="0"/>
          <a:chOff x="0" y="0"/>
          <a:chExt cx="0" cy="0"/>
        </a:xfrm>
      </p:grpSpPr>
      <p:pic>
        <p:nvPicPr>
          <p:cNvPr id="233" name="Google Shape;23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4" name="Google Shape;234;p20" title="11.png"/>
          <p:cNvPicPr preferRelativeResize="0"/>
          <p:nvPr/>
        </p:nvPicPr>
        <p:blipFill rotWithShape="1">
          <a:blip r:embed="rId4">
            <a:alphaModFix/>
          </a:blip>
          <a:srcRect r="15304"/>
          <a:stretch/>
        </p:blipFill>
        <p:spPr>
          <a:xfrm>
            <a:off x="571500" y="2210925"/>
            <a:ext cx="3476076" cy="773807"/>
          </a:xfrm>
          <a:prstGeom prst="rect">
            <a:avLst/>
          </a:prstGeom>
          <a:noFill/>
          <a:ln>
            <a:noFill/>
          </a:ln>
        </p:spPr>
      </p:pic>
      <p:sp>
        <p:nvSpPr>
          <p:cNvPr id="235" name="Google Shape;235;p20"/>
          <p:cNvSpPr txBox="1"/>
          <p:nvPr/>
        </p:nvSpPr>
        <p:spPr>
          <a:xfrm>
            <a:off x="771525" y="3676650"/>
            <a:ext cx="3092350"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1" i="0" u="none" strike="noStrike" cap="none">
                <a:solidFill>
                  <a:srgbClr val="F0F0F0"/>
                </a:solidFill>
                <a:latin typeface="Lato"/>
                <a:ea typeface="Lato"/>
                <a:cs typeface="Lato"/>
                <a:sym typeface="Lato"/>
              </a:rPr>
              <a:t>KPI Cards:</a:t>
            </a:r>
            <a:r>
              <a:rPr lang="en-US" sz="1200" b="0" i="0" u="none" strike="noStrike" cap="none">
                <a:solidFill>
                  <a:srgbClr val="F0F0F0"/>
                </a:solidFill>
                <a:latin typeface="Lato"/>
                <a:ea typeface="Lato"/>
                <a:cs typeface="Lato"/>
                <a:sym typeface="Lato"/>
              </a:rPr>
              <a:t> Confirmed a robust, high-quality dataset of 999 movies with an 8.11 Weighted Avg Rating and $225.45B Total Gross.</a:t>
            </a:r>
            <a:endParaRPr/>
          </a:p>
        </p:txBody>
      </p:sp>
      <p:pic>
        <p:nvPicPr>
          <p:cNvPr id="236" name="Google Shape;236;p20" title="12.png"/>
          <p:cNvPicPr preferRelativeResize="0"/>
          <p:nvPr/>
        </p:nvPicPr>
        <p:blipFill rotWithShape="1">
          <a:blip r:embed="rId5">
            <a:alphaModFix/>
          </a:blip>
          <a:srcRect b="5953"/>
          <a:stretch/>
        </p:blipFill>
        <p:spPr>
          <a:xfrm>
            <a:off x="4863725" y="1819273"/>
            <a:ext cx="2560902" cy="1714500"/>
          </a:xfrm>
          <a:prstGeom prst="rect">
            <a:avLst/>
          </a:prstGeom>
          <a:noFill/>
          <a:ln>
            <a:noFill/>
          </a:ln>
        </p:spPr>
      </p:pic>
      <p:sp>
        <p:nvSpPr>
          <p:cNvPr id="237" name="Google Shape;237;p20"/>
          <p:cNvSpPr txBox="1"/>
          <p:nvPr/>
        </p:nvSpPr>
        <p:spPr>
          <a:xfrm>
            <a:off x="4549675" y="3676650"/>
            <a:ext cx="3092499"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1" i="0" u="none" strike="noStrike" cap="none">
                <a:solidFill>
                  <a:srgbClr val="F0F0F0"/>
                </a:solidFill>
                <a:latin typeface="Lato"/>
                <a:ea typeface="Lato"/>
                <a:cs typeface="Lato"/>
                <a:sym typeface="Lato"/>
              </a:rPr>
              <a:t>Genre Chart:</a:t>
            </a:r>
            <a:r>
              <a:rPr lang="en-US" sz="1200" b="0" i="0" u="none" strike="noStrike" cap="none">
                <a:solidFill>
                  <a:srgbClr val="F0F0F0"/>
                </a:solidFill>
                <a:latin typeface="Lato"/>
                <a:ea typeface="Lato"/>
                <a:cs typeface="Lato"/>
                <a:sym typeface="Lato"/>
              </a:rPr>
              <a:t> Revenue is highly concentrated. The Action &amp; Adventure genre combination is the undisputed market leader.</a:t>
            </a:r>
            <a:endParaRPr/>
          </a:p>
        </p:txBody>
      </p:sp>
      <p:pic>
        <p:nvPicPr>
          <p:cNvPr id="238" name="Google Shape;238;p20" title="13.png"/>
          <p:cNvPicPr preferRelativeResize="0"/>
          <p:nvPr/>
        </p:nvPicPr>
        <p:blipFill rotWithShape="1">
          <a:blip r:embed="rId6">
            <a:alphaModFix/>
          </a:blip>
          <a:srcRect/>
          <a:stretch/>
        </p:blipFill>
        <p:spPr>
          <a:xfrm>
            <a:off x="8144425" y="2128598"/>
            <a:ext cx="3476075" cy="1101150"/>
          </a:xfrm>
          <a:prstGeom prst="rect">
            <a:avLst/>
          </a:prstGeom>
          <a:noFill/>
          <a:ln>
            <a:noFill/>
          </a:ln>
        </p:spPr>
      </p:pic>
      <p:sp>
        <p:nvSpPr>
          <p:cNvPr id="239" name="Google Shape;239;p20"/>
          <p:cNvSpPr txBox="1"/>
          <p:nvPr/>
        </p:nvSpPr>
        <p:spPr>
          <a:xfrm>
            <a:off x="8327975" y="3676650"/>
            <a:ext cx="3092350" cy="7313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1" i="0" u="none" strike="noStrike" cap="none">
                <a:solidFill>
                  <a:srgbClr val="F0F0F0"/>
                </a:solidFill>
                <a:latin typeface="Lato"/>
                <a:ea typeface="Lato"/>
                <a:cs typeface="Lato"/>
                <a:sym typeface="Lato"/>
              </a:rPr>
              <a:t>Scatter Plot:</a:t>
            </a:r>
            <a:r>
              <a:rPr lang="en-US" sz="1200" b="0" i="0" u="none" strike="noStrike" cap="none">
                <a:solidFill>
                  <a:srgbClr val="F0F0F0"/>
                </a:solidFill>
                <a:latin typeface="Lato"/>
                <a:ea typeface="Lato"/>
                <a:cs typeface="Lato"/>
                <a:sym typeface="Lato"/>
              </a:rPr>
              <a:t> Commercial success is maximized when high audience engagement (bubble size) intersects with high financial return.</a:t>
            </a:r>
            <a:endParaRPr/>
          </a:p>
        </p:txBody>
      </p:sp>
      <p:sp>
        <p:nvSpPr>
          <p:cNvPr id="240" name="Google Shape;240;p20"/>
          <p:cNvSpPr txBox="1"/>
          <p:nvPr/>
        </p:nvSpPr>
        <p:spPr>
          <a:xfrm>
            <a:off x="571500" y="381000"/>
            <a:ext cx="11601450" cy="714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67B2D8"/>
                </a:solidFill>
                <a:latin typeface="Poppins"/>
                <a:ea typeface="Poppins"/>
                <a:cs typeface="Poppins"/>
                <a:sym typeface="Poppins"/>
              </a:rPr>
              <a:t>Insights from Power BI</a:t>
            </a:r>
            <a:endParaRPr/>
          </a:p>
        </p:txBody>
      </p:sp>
      <p:sp>
        <p:nvSpPr>
          <p:cNvPr id="241" name="Google Shape;241;p20"/>
          <p:cNvSpPr/>
          <p:nvPr/>
        </p:nvSpPr>
        <p:spPr>
          <a:xfrm>
            <a:off x="571500" y="1209675"/>
            <a:ext cx="11049000" cy="28575"/>
          </a:xfrm>
          <a:prstGeom prst="rect">
            <a:avLst/>
          </a:prstGeom>
          <a:solidFill>
            <a:srgbClr val="BF12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5A0E24"/>
        </a:solidFill>
        <a:effectLst/>
      </p:bgPr>
    </p:bg>
    <p:spTree>
      <p:nvGrpSpPr>
        <p:cNvPr id="1" name="Shape 245"/>
        <p:cNvGrpSpPr/>
        <p:nvPr/>
      </p:nvGrpSpPr>
      <p:grpSpPr>
        <a:xfrm>
          <a:off x="0" y="0"/>
          <a:ext cx="0" cy="0"/>
          <a:chOff x="0" y="0"/>
          <a:chExt cx="0" cy="0"/>
        </a:xfrm>
      </p:grpSpPr>
      <p:pic>
        <p:nvPicPr>
          <p:cNvPr id="246" name="Google Shape;246;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7" name="Google Shape;247;p21" descr="image.png"/>
          <p:cNvPicPr preferRelativeResize="0"/>
          <p:nvPr/>
        </p:nvPicPr>
        <p:blipFill rotWithShape="1">
          <a:blip r:embed="rId4">
            <a:alphaModFix/>
          </a:blip>
          <a:srcRect/>
          <a:stretch/>
        </p:blipFill>
        <p:spPr>
          <a:xfrm>
            <a:off x="571500" y="1501229"/>
            <a:ext cx="11049000" cy="2451645"/>
          </a:xfrm>
          <a:prstGeom prst="rect">
            <a:avLst/>
          </a:prstGeom>
          <a:noFill/>
          <a:ln>
            <a:noFill/>
          </a:ln>
        </p:spPr>
      </p:pic>
      <p:pic>
        <p:nvPicPr>
          <p:cNvPr id="248" name="Google Shape;248;p21" descr="image.png"/>
          <p:cNvPicPr preferRelativeResize="0"/>
          <p:nvPr/>
        </p:nvPicPr>
        <p:blipFill rotWithShape="1">
          <a:blip r:embed="rId5">
            <a:alphaModFix/>
          </a:blip>
          <a:srcRect/>
          <a:stretch/>
        </p:blipFill>
        <p:spPr>
          <a:xfrm>
            <a:off x="571500" y="4143375"/>
            <a:ext cx="11049000" cy="2451645"/>
          </a:xfrm>
          <a:prstGeom prst="rect">
            <a:avLst/>
          </a:prstGeom>
          <a:noFill/>
          <a:ln>
            <a:noFill/>
          </a:ln>
        </p:spPr>
      </p:pic>
      <p:sp>
        <p:nvSpPr>
          <p:cNvPr id="249" name="Google Shape;249;p21"/>
          <p:cNvSpPr txBox="1"/>
          <p:nvPr/>
        </p:nvSpPr>
        <p:spPr>
          <a:xfrm>
            <a:off x="904875" y="1796504"/>
            <a:ext cx="10941367" cy="409575"/>
          </a:xfrm>
          <a:prstGeom prst="rect">
            <a:avLst/>
          </a:prstGeom>
          <a:noFill/>
          <a:ln>
            <a:noFill/>
          </a:ln>
        </p:spPr>
        <p:txBody>
          <a:bodyPr spcFirstLastPara="1" wrap="square" lIns="200025" tIns="0" rIns="0" bIns="0" anchor="t" anchorCtr="0">
            <a:spAutoFit/>
          </a:bodyPr>
          <a:lstStyle/>
          <a:p>
            <a:pPr marL="0" marR="0" lvl="0" indent="0" algn="l" rtl="0">
              <a:spcBef>
                <a:spcPts val="0"/>
              </a:spcBef>
              <a:spcAft>
                <a:spcPts val="0"/>
              </a:spcAft>
              <a:buNone/>
            </a:pPr>
            <a:r>
              <a:rPr lang="en-US" sz="2100" b="1" i="0" u="none" strike="noStrike" cap="none">
                <a:solidFill>
                  <a:srgbClr val="67B2D8"/>
                </a:solidFill>
                <a:latin typeface="Poppins"/>
                <a:ea typeface="Poppins"/>
                <a:cs typeface="Poppins"/>
                <a:sym typeface="Poppins"/>
              </a:rPr>
              <a:t>CONCLUSION</a:t>
            </a:r>
            <a:endParaRPr/>
          </a:p>
        </p:txBody>
      </p:sp>
      <p:sp>
        <p:nvSpPr>
          <p:cNvPr id="250" name="Google Shape;250;p21"/>
          <p:cNvSpPr/>
          <p:nvPr/>
        </p:nvSpPr>
        <p:spPr>
          <a:xfrm>
            <a:off x="904875" y="2291804"/>
            <a:ext cx="104203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1"/>
          <p:cNvSpPr txBox="1"/>
          <p:nvPr/>
        </p:nvSpPr>
        <p:spPr>
          <a:xfrm>
            <a:off x="904875" y="2663279"/>
            <a:ext cx="104203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Success in the film industry is a function of audience scale, not just critical perfection. While the dataset's 8.11 Weighted Average Rating confirms its high quality, the financial analysis shows that high revenue is most strongly tied to the Number of Votes (Audience Engagement), with a correlation of 0.60.</a:t>
            </a:r>
            <a:endParaRPr/>
          </a:p>
        </p:txBody>
      </p:sp>
      <p:sp>
        <p:nvSpPr>
          <p:cNvPr id="252" name="Google Shape;252;p21"/>
          <p:cNvSpPr txBox="1"/>
          <p:nvPr/>
        </p:nvSpPr>
        <p:spPr>
          <a:xfrm>
            <a:off x="904875" y="4438650"/>
            <a:ext cx="10941367" cy="409575"/>
          </a:xfrm>
          <a:prstGeom prst="rect">
            <a:avLst/>
          </a:prstGeom>
          <a:noFill/>
          <a:ln>
            <a:noFill/>
          </a:ln>
        </p:spPr>
        <p:txBody>
          <a:bodyPr spcFirstLastPara="1" wrap="square" lIns="266700" tIns="0" rIns="0" bIns="0" anchor="t" anchorCtr="0">
            <a:spAutoFit/>
          </a:bodyPr>
          <a:lstStyle/>
          <a:p>
            <a:pPr marL="0" marR="0" lvl="0" indent="0" algn="l" rtl="0">
              <a:spcBef>
                <a:spcPts val="0"/>
              </a:spcBef>
              <a:spcAft>
                <a:spcPts val="0"/>
              </a:spcAft>
              <a:buNone/>
            </a:pPr>
            <a:r>
              <a:rPr lang="en-US" sz="2100" b="1" i="0" u="none" strike="noStrike" cap="none">
                <a:solidFill>
                  <a:srgbClr val="67B2D8"/>
                </a:solidFill>
                <a:latin typeface="Poppins"/>
                <a:ea typeface="Poppins"/>
                <a:cs typeface="Poppins"/>
                <a:sym typeface="Poppins"/>
              </a:rPr>
              <a:t>RECOMMENDATION</a:t>
            </a:r>
            <a:endParaRPr/>
          </a:p>
        </p:txBody>
      </p:sp>
      <p:sp>
        <p:nvSpPr>
          <p:cNvPr id="253" name="Google Shape;253;p21"/>
          <p:cNvSpPr/>
          <p:nvPr/>
        </p:nvSpPr>
        <p:spPr>
          <a:xfrm>
            <a:off x="904875" y="4933950"/>
            <a:ext cx="104203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1"/>
          <p:cNvSpPr txBox="1"/>
          <p:nvPr/>
        </p:nvSpPr>
        <p:spPr>
          <a:xfrm>
            <a:off x="904875" y="5305425"/>
            <a:ext cx="104203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0F0F0"/>
                </a:solidFill>
                <a:latin typeface="Lato"/>
                <a:ea typeface="Lato"/>
                <a:cs typeface="Lato"/>
                <a:sym typeface="Lato"/>
              </a:rPr>
              <a:t>Future investment should strategically focus on producing films within the Action and Adventure genre combination. Simultaneously, marketing strategies must be aimed at maximizing audience engagement and vote volume, as these metrics are the most reliable indicators for achieving high gross revenue.</a:t>
            </a:r>
            <a:endParaRPr/>
          </a:p>
        </p:txBody>
      </p:sp>
      <p:pic>
        <p:nvPicPr>
          <p:cNvPr id="255" name="Google Shape;255;p21" descr="image.png"/>
          <p:cNvPicPr preferRelativeResize="0"/>
          <p:nvPr/>
        </p:nvPicPr>
        <p:blipFill rotWithShape="1">
          <a:blip r:embed="rId6">
            <a:alphaModFix/>
          </a:blip>
          <a:srcRect/>
          <a:stretch/>
        </p:blipFill>
        <p:spPr>
          <a:xfrm>
            <a:off x="904875" y="1853654"/>
            <a:ext cx="200025" cy="266700"/>
          </a:xfrm>
          <a:prstGeom prst="rect">
            <a:avLst/>
          </a:prstGeom>
          <a:noFill/>
          <a:ln>
            <a:noFill/>
          </a:ln>
        </p:spPr>
      </p:pic>
      <p:pic>
        <p:nvPicPr>
          <p:cNvPr id="256" name="Google Shape;256;p21" descr="image.png"/>
          <p:cNvPicPr preferRelativeResize="0"/>
          <p:nvPr/>
        </p:nvPicPr>
        <p:blipFill rotWithShape="1">
          <a:blip r:embed="rId7">
            <a:alphaModFix/>
          </a:blip>
          <a:srcRect/>
          <a:stretch/>
        </p:blipFill>
        <p:spPr>
          <a:xfrm>
            <a:off x="904875" y="4495800"/>
            <a:ext cx="266700" cy="266700"/>
          </a:xfrm>
          <a:prstGeom prst="rect">
            <a:avLst/>
          </a:prstGeom>
          <a:noFill/>
          <a:ln>
            <a:noFill/>
          </a:ln>
        </p:spPr>
      </p:pic>
      <p:sp>
        <p:nvSpPr>
          <p:cNvPr id="257" name="Google Shape;257;p21"/>
          <p:cNvSpPr txBox="1"/>
          <p:nvPr/>
        </p:nvSpPr>
        <p:spPr>
          <a:xfrm>
            <a:off x="571500" y="262979"/>
            <a:ext cx="11601450" cy="714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67B2D8"/>
                </a:solidFill>
                <a:latin typeface="Poppins"/>
                <a:ea typeface="Poppins"/>
                <a:cs typeface="Poppins"/>
                <a:sym typeface="Poppins"/>
              </a:rPr>
              <a:t>Conclusion &amp; Recommendation</a:t>
            </a:r>
            <a:endParaRPr/>
          </a:p>
        </p:txBody>
      </p:sp>
      <p:sp>
        <p:nvSpPr>
          <p:cNvPr id="258" name="Google Shape;258;p21"/>
          <p:cNvSpPr/>
          <p:nvPr/>
        </p:nvSpPr>
        <p:spPr>
          <a:xfrm>
            <a:off x="571500" y="1091654"/>
            <a:ext cx="11049000" cy="28575"/>
          </a:xfrm>
          <a:prstGeom prst="rect">
            <a:avLst/>
          </a:prstGeom>
          <a:solidFill>
            <a:srgbClr val="BF12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790</Words>
  <Application>Microsoft Office PowerPoint</Application>
  <PresentationFormat>Widescreen</PresentationFormat>
  <Paragraphs>61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Poppins</vt:lpstr>
      <vt:lpstr>Calibri</vt:lpstr>
      <vt:lpstr>Lato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Inzmam khan</cp:lastModifiedBy>
  <cp:revision>1</cp:revision>
  <dcterms:modified xsi:type="dcterms:W3CDTF">2025-11-21T14:41:05Z</dcterms:modified>
</cp:coreProperties>
</file>