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E2425B-B26E-4432-A279-1895AD540656}" v="29" dt="2025-11-01T16:10:26.4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zmam khan" userId="2a823f6a0044325f" providerId="Windows Live" clId="Web-{B7E2425B-B26E-4432-A279-1895AD540656}"/>
    <pc:docChg chg="modSld">
      <pc:chgData name="Inzmam khan" userId="2a823f6a0044325f" providerId="Windows Live" clId="Web-{B7E2425B-B26E-4432-A279-1895AD540656}" dt="2025-11-01T16:10:26.454" v="17" actId="1076"/>
      <pc:docMkLst>
        <pc:docMk/>
      </pc:docMkLst>
      <pc:sldChg chg="modSp">
        <pc:chgData name="Inzmam khan" userId="2a823f6a0044325f" providerId="Windows Live" clId="Web-{B7E2425B-B26E-4432-A279-1895AD540656}" dt="2025-11-01T16:08:24.367" v="8" actId="20577"/>
        <pc:sldMkLst>
          <pc:docMk/>
          <pc:sldMk cId="0" sldId="256"/>
        </pc:sldMkLst>
        <pc:spChg chg="mod">
          <ac:chgData name="Inzmam khan" userId="2a823f6a0044325f" providerId="Windows Live" clId="Web-{B7E2425B-B26E-4432-A279-1895AD540656}" dt="2025-11-01T16:08:10.659" v="4" actId="20577"/>
          <ac:spMkLst>
            <pc:docMk/>
            <pc:sldMk cId="0" sldId="256"/>
            <ac:spMk id="312" creationId="{00000000-0000-0000-0000-000000000000}"/>
          </ac:spMkLst>
        </pc:spChg>
        <pc:spChg chg="mod">
          <ac:chgData name="Inzmam khan" userId="2a823f6a0044325f" providerId="Windows Live" clId="Web-{B7E2425B-B26E-4432-A279-1895AD540656}" dt="2025-11-01T16:08:24.367" v="8" actId="20577"/>
          <ac:spMkLst>
            <pc:docMk/>
            <pc:sldMk cId="0" sldId="256"/>
            <ac:spMk id="313" creationId="{00000000-0000-0000-0000-000000000000}"/>
          </ac:spMkLst>
        </pc:spChg>
      </pc:sldChg>
      <pc:sldChg chg="modSp">
        <pc:chgData name="Inzmam khan" userId="2a823f6a0044325f" providerId="Windows Live" clId="Web-{B7E2425B-B26E-4432-A279-1895AD540656}" dt="2025-11-01T16:08:47.712" v="9"/>
        <pc:sldMkLst>
          <pc:docMk/>
          <pc:sldMk cId="0" sldId="261"/>
        </pc:sldMkLst>
        <pc:picChg chg="mod">
          <ac:chgData name="Inzmam khan" userId="2a823f6a0044325f" providerId="Windows Live" clId="Web-{B7E2425B-B26E-4432-A279-1895AD540656}" dt="2025-11-01T16:08:47.712" v="9"/>
          <ac:picMkLst>
            <pc:docMk/>
            <pc:sldMk cId="0" sldId="261"/>
            <ac:picMk id="328" creationId="{00000000-0000-0000-0000-000000000000}"/>
          </ac:picMkLst>
        </pc:picChg>
      </pc:sldChg>
      <pc:sldChg chg="modSp">
        <pc:chgData name="Inzmam khan" userId="2a823f6a0044325f" providerId="Windows Live" clId="Web-{B7E2425B-B26E-4432-A279-1895AD540656}" dt="2025-11-01T16:09:29.622" v="12"/>
        <pc:sldMkLst>
          <pc:docMk/>
          <pc:sldMk cId="0" sldId="262"/>
        </pc:sldMkLst>
        <pc:picChg chg="mod">
          <ac:chgData name="Inzmam khan" userId="2a823f6a0044325f" providerId="Windows Live" clId="Web-{B7E2425B-B26E-4432-A279-1895AD540656}" dt="2025-11-01T16:09:06.589" v="10"/>
          <ac:picMkLst>
            <pc:docMk/>
            <pc:sldMk cId="0" sldId="262"/>
            <ac:picMk id="342" creationId="{00000000-0000-0000-0000-000000000000}"/>
          </ac:picMkLst>
        </pc:picChg>
        <pc:picChg chg="mod">
          <ac:chgData name="Inzmam khan" userId="2a823f6a0044325f" providerId="Windows Live" clId="Web-{B7E2425B-B26E-4432-A279-1895AD540656}" dt="2025-11-01T16:09:16.699" v="11"/>
          <ac:picMkLst>
            <pc:docMk/>
            <pc:sldMk cId="0" sldId="262"/>
            <ac:picMk id="343" creationId="{00000000-0000-0000-0000-000000000000}"/>
          </ac:picMkLst>
        </pc:picChg>
        <pc:picChg chg="mod">
          <ac:chgData name="Inzmam khan" userId="2a823f6a0044325f" providerId="Windows Live" clId="Web-{B7E2425B-B26E-4432-A279-1895AD540656}" dt="2025-11-01T16:09:29.622" v="12"/>
          <ac:picMkLst>
            <pc:docMk/>
            <pc:sldMk cId="0" sldId="262"/>
            <ac:picMk id="344" creationId="{00000000-0000-0000-0000-000000000000}"/>
          </ac:picMkLst>
        </pc:picChg>
      </pc:sldChg>
      <pc:sldChg chg="modSp">
        <pc:chgData name="Inzmam khan" userId="2a823f6a0044325f" providerId="Windows Live" clId="Web-{B7E2425B-B26E-4432-A279-1895AD540656}" dt="2025-11-01T16:10:00.765" v="15"/>
        <pc:sldMkLst>
          <pc:docMk/>
          <pc:sldMk cId="0" sldId="263"/>
        </pc:sldMkLst>
        <pc:picChg chg="mod">
          <ac:chgData name="Inzmam khan" userId="2a823f6a0044325f" providerId="Windows Live" clId="Web-{B7E2425B-B26E-4432-A279-1895AD540656}" dt="2025-11-01T16:09:43.560" v="13"/>
          <ac:picMkLst>
            <pc:docMk/>
            <pc:sldMk cId="0" sldId="263"/>
            <ac:picMk id="227" creationId="{00000000-0000-0000-0000-000000000000}"/>
          </ac:picMkLst>
        </pc:picChg>
        <pc:picChg chg="mod">
          <ac:chgData name="Inzmam khan" userId="2a823f6a0044325f" providerId="Windows Live" clId="Web-{B7E2425B-B26E-4432-A279-1895AD540656}" dt="2025-11-01T16:09:53.811" v="14"/>
          <ac:picMkLst>
            <pc:docMk/>
            <pc:sldMk cId="0" sldId="263"/>
            <ac:picMk id="228" creationId="{00000000-0000-0000-0000-000000000000}"/>
          </ac:picMkLst>
        </pc:picChg>
        <pc:picChg chg="mod">
          <ac:chgData name="Inzmam khan" userId="2a823f6a0044325f" providerId="Windows Live" clId="Web-{B7E2425B-B26E-4432-A279-1895AD540656}" dt="2025-11-01T16:10:00.765" v="15"/>
          <ac:picMkLst>
            <pc:docMk/>
            <pc:sldMk cId="0" sldId="263"/>
            <ac:picMk id="229" creationId="{00000000-0000-0000-0000-000000000000}"/>
          </ac:picMkLst>
        </pc:picChg>
      </pc:sldChg>
      <pc:sldChg chg="modSp">
        <pc:chgData name="Inzmam khan" userId="2a823f6a0044325f" providerId="Windows Live" clId="Web-{B7E2425B-B26E-4432-A279-1895AD540656}" dt="2025-11-01T16:10:26.454" v="17" actId="1076"/>
        <pc:sldMkLst>
          <pc:docMk/>
          <pc:sldMk cId="0" sldId="265"/>
        </pc:sldMkLst>
        <pc:spChg chg="mod">
          <ac:chgData name="Inzmam khan" userId="2a823f6a0044325f" providerId="Windows Live" clId="Web-{B7E2425B-B26E-4432-A279-1895AD540656}" dt="2025-11-01T16:10:19.281" v="16" actId="1076"/>
          <ac:spMkLst>
            <pc:docMk/>
            <pc:sldMk cId="0" sldId="265"/>
            <ac:spMk id="267" creationId="{00000000-0000-0000-0000-000000000000}"/>
          </ac:spMkLst>
        </pc:spChg>
        <pc:spChg chg="mod">
          <ac:chgData name="Inzmam khan" userId="2a823f6a0044325f" providerId="Windows Live" clId="Web-{B7E2425B-B26E-4432-A279-1895AD540656}" dt="2025-11-01T16:10:26.454" v="17" actId="1076"/>
          <ac:spMkLst>
            <pc:docMk/>
            <pc:sldMk cId="0" sldId="265"/>
            <ac:spMk id="26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307"/>
        <p:cNvGrpSpPr/>
        <p:nvPr/>
      </p:nvGrpSpPr>
      <p:grpSpPr>
        <a:xfrm>
          <a:off x="0" y="0"/>
          <a:ext cx="0" cy="0"/>
          <a:chOff x="0" y="0"/>
          <a:chExt cx="0" cy="0"/>
        </a:xfrm>
      </p:grpSpPr>
      <p:pic>
        <p:nvPicPr>
          <p:cNvPr id="308" name="Google Shape;308;p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9" name="Google Shape;309;p1" descr="image.png"/>
          <p:cNvPicPr preferRelativeResize="0"/>
          <p:nvPr/>
        </p:nvPicPr>
        <p:blipFill rotWithShape="1">
          <a:blip r:embed="rId4">
            <a:alphaModFix/>
          </a:blip>
          <a:srcRect/>
          <a:stretch/>
        </p:blipFill>
        <p:spPr>
          <a:xfrm>
            <a:off x="6286500" y="571500"/>
            <a:ext cx="5334000" cy="5715000"/>
          </a:xfrm>
          <a:prstGeom prst="rect">
            <a:avLst/>
          </a:prstGeom>
          <a:noFill/>
          <a:ln>
            <a:noFill/>
          </a:ln>
        </p:spPr>
      </p:pic>
      <p:sp>
        <p:nvSpPr>
          <p:cNvPr id="310" name="Google Shape;310;p1"/>
          <p:cNvSpPr txBox="1"/>
          <p:nvPr/>
        </p:nvSpPr>
        <p:spPr>
          <a:xfrm>
            <a:off x="571500" y="2568029"/>
            <a:ext cx="5600700" cy="1188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3900"/>
              <a:buFont typeface="Arial"/>
              <a:buNone/>
            </a:pPr>
            <a:r>
              <a:rPr lang="en-US" sz="3900" b="1" i="0" u="none" strike="noStrike" cap="none">
                <a:solidFill>
                  <a:srgbClr val="E50914"/>
                </a:solidFill>
                <a:latin typeface="Poppins"/>
                <a:ea typeface="Poppins"/>
                <a:cs typeface="Poppins"/>
                <a:sym typeface="Poppins"/>
              </a:rPr>
              <a:t>The Silver Screen Symphony</a:t>
            </a:r>
            <a:endParaRPr sz="1400" b="0" i="0" u="none" strike="noStrike" cap="none">
              <a:solidFill>
                <a:srgbClr val="000000"/>
              </a:solidFill>
              <a:latin typeface="Arial"/>
              <a:ea typeface="Arial"/>
              <a:cs typeface="Arial"/>
              <a:sym typeface="Arial"/>
            </a:endParaRPr>
          </a:p>
        </p:txBody>
      </p:sp>
      <p:sp>
        <p:nvSpPr>
          <p:cNvPr id="311" name="Google Shape;311;p1"/>
          <p:cNvSpPr txBox="1"/>
          <p:nvPr/>
        </p:nvSpPr>
        <p:spPr>
          <a:xfrm>
            <a:off x="571500" y="3947070"/>
            <a:ext cx="5334000" cy="342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a:solidFill>
                  <a:srgbClr val="FFFFFF"/>
                </a:solidFill>
                <a:latin typeface="Lato"/>
                <a:ea typeface="Lato"/>
                <a:cs typeface="Lato"/>
                <a:sym typeface="Lato"/>
              </a:rPr>
              <a:t>Data Driven Insights for Modern Streaming Market</a:t>
            </a:r>
            <a:endParaRPr sz="1400" b="0" i="0" u="none" strike="noStrike" cap="none">
              <a:solidFill>
                <a:srgbClr val="000000"/>
              </a:solidFill>
              <a:latin typeface="Arial"/>
              <a:ea typeface="Arial"/>
              <a:cs typeface="Arial"/>
              <a:sym typeface="Arial"/>
            </a:endParaRPr>
          </a:p>
        </p:txBody>
      </p:sp>
      <p:sp>
        <p:nvSpPr>
          <p:cNvPr id="312" name="Google Shape;312;p1"/>
          <p:cNvSpPr txBox="1"/>
          <p:nvPr/>
        </p:nvSpPr>
        <p:spPr>
          <a:xfrm>
            <a:off x="6572250" y="2175867"/>
            <a:ext cx="4793391" cy="30162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1200"/>
              <a:buFont typeface="Arial"/>
              <a:buNone/>
            </a:pPr>
            <a:r>
              <a:rPr lang="en-US" b="1" dirty="0">
                <a:solidFill>
                  <a:schemeClr val="bg1"/>
                </a:solidFill>
                <a:latin typeface="Times New Roman"/>
                <a:ea typeface="Lato"/>
                <a:cs typeface="Times New Roman"/>
                <a:sym typeface="Lato"/>
              </a:rPr>
              <a:t>By:</a:t>
            </a:r>
            <a:r>
              <a:rPr lang="en-US" dirty="0">
                <a:solidFill>
                  <a:schemeClr val="bg1"/>
                </a:solidFill>
                <a:latin typeface="Times New Roman"/>
                <a:ea typeface="Lato"/>
                <a:cs typeface="Times New Roman"/>
                <a:sym typeface="Lato"/>
              </a:rPr>
              <a:t> </a:t>
            </a:r>
            <a:r>
              <a:rPr lang="en-US" err="1">
                <a:solidFill>
                  <a:schemeClr val="bg1"/>
                </a:solidFill>
                <a:latin typeface="Times New Roman"/>
                <a:ea typeface="Lato"/>
                <a:cs typeface="Times New Roman"/>
                <a:sym typeface="Lato"/>
              </a:rPr>
              <a:t>Inzmam</a:t>
            </a:r>
            <a:r>
              <a:rPr lang="en-US" dirty="0">
                <a:solidFill>
                  <a:schemeClr val="bg1"/>
                </a:solidFill>
                <a:latin typeface="Times New Roman"/>
                <a:ea typeface="Lato"/>
                <a:cs typeface="Times New Roman"/>
                <a:sym typeface="Lato"/>
              </a:rPr>
              <a:t> un Nabi Khan (202410101150099)</a:t>
            </a:r>
            <a:endParaRPr lang="en-US">
              <a:solidFill>
                <a:schemeClr val="bg1"/>
              </a:solidFill>
              <a:latin typeface="Times New Roman"/>
              <a:cs typeface="Times New Roman"/>
            </a:endParaRPr>
          </a:p>
        </p:txBody>
      </p:sp>
      <p:sp>
        <p:nvSpPr>
          <p:cNvPr id="313" name="Google Shape;313;p1"/>
          <p:cNvSpPr txBox="1"/>
          <p:nvPr/>
        </p:nvSpPr>
        <p:spPr>
          <a:xfrm>
            <a:off x="6572250" y="2503437"/>
            <a:ext cx="4762500" cy="258532"/>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1200"/>
              <a:buFont typeface="Arial"/>
              <a:buNone/>
            </a:pPr>
            <a:r>
              <a:rPr lang="en-US" sz="1200" b="1" i="0" u="none" strike="noStrike" cap="none" dirty="0">
                <a:solidFill>
                  <a:schemeClr val="bg1"/>
                </a:solidFill>
                <a:latin typeface="Times New Roman"/>
                <a:ea typeface="Lato"/>
                <a:cs typeface="Lato"/>
                <a:sym typeface="Lato"/>
              </a:rPr>
              <a:t> &amp; </a:t>
            </a:r>
            <a:r>
              <a:rPr lang="en-US" sz="1200" b="0" i="0" u="none" strike="noStrike" cap="none" dirty="0">
                <a:solidFill>
                  <a:schemeClr val="bg1"/>
                </a:solidFill>
                <a:latin typeface="Times New Roman"/>
                <a:ea typeface="Lato"/>
                <a:cs typeface="Lato"/>
                <a:sym typeface="Lato"/>
              </a:rPr>
              <a:t> Alok </a:t>
            </a:r>
            <a:r>
              <a:rPr lang="en-US" sz="1200" b="0" i="0" u="none" strike="noStrike" cap="none" err="1">
                <a:solidFill>
                  <a:schemeClr val="bg1"/>
                </a:solidFill>
                <a:latin typeface="Times New Roman"/>
                <a:ea typeface="Lato"/>
                <a:cs typeface="Lato"/>
                <a:sym typeface="Lato"/>
              </a:rPr>
              <a:t>Shrivastaw</a:t>
            </a:r>
            <a:r>
              <a:rPr lang="en-US" sz="1200" b="0" i="0" u="none" strike="noStrike" cap="none" dirty="0">
                <a:solidFill>
                  <a:schemeClr val="bg1"/>
                </a:solidFill>
                <a:latin typeface="Times New Roman"/>
                <a:ea typeface="Lato"/>
                <a:cs typeface="Lato"/>
                <a:sym typeface="Lato"/>
              </a:rPr>
              <a:t> (202410101150096)</a:t>
            </a:r>
            <a:endParaRPr lang="en-US" sz="1400" b="0" i="0" u="none" strike="noStrike" cap="none">
              <a:solidFill>
                <a:schemeClr val="bg1"/>
              </a:solidFill>
              <a:latin typeface="Times New Roman"/>
              <a:ea typeface="Arial"/>
              <a:cs typeface="Arial"/>
            </a:endParaRPr>
          </a:p>
        </p:txBody>
      </p:sp>
      <p:sp>
        <p:nvSpPr>
          <p:cNvPr id="314" name="Google Shape;314;p1"/>
          <p:cNvSpPr txBox="1"/>
          <p:nvPr/>
        </p:nvSpPr>
        <p:spPr>
          <a:xfrm>
            <a:off x="6572250" y="2831008"/>
            <a:ext cx="4762500" cy="2133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1200"/>
              <a:buFont typeface="Arial"/>
              <a:buNone/>
            </a:pPr>
            <a:r>
              <a:rPr lang="en-US" sz="1200" b="1" i="0" u="none" strike="noStrike" cap="none">
                <a:solidFill>
                  <a:srgbClr val="FFFFFF"/>
                </a:solidFill>
                <a:latin typeface="Lato"/>
                <a:ea typeface="Lato"/>
                <a:cs typeface="Lato"/>
                <a:sym typeface="Lato"/>
              </a:rPr>
              <a:t>University:</a:t>
            </a:r>
            <a:r>
              <a:rPr lang="en-US" sz="1200" b="0" i="0" u="none" strike="noStrike" cap="none">
                <a:solidFill>
                  <a:srgbClr val="CCCCCC"/>
                </a:solidFill>
                <a:latin typeface="Lato"/>
                <a:ea typeface="Lato"/>
                <a:cs typeface="Lato"/>
                <a:sym typeface="Lato"/>
              </a:rPr>
              <a:t> Shree Ramswaroop Memorial University</a:t>
            </a:r>
            <a:endParaRPr sz="1400" b="0" i="0" u="none" strike="noStrike" cap="none">
              <a:solidFill>
                <a:srgbClr val="000000"/>
              </a:solidFill>
              <a:latin typeface="Arial"/>
              <a:ea typeface="Arial"/>
              <a:cs typeface="Arial"/>
              <a:sym typeface="Arial"/>
            </a:endParaRPr>
          </a:p>
        </p:txBody>
      </p:sp>
      <p:sp>
        <p:nvSpPr>
          <p:cNvPr id="315" name="Google Shape;315;p1"/>
          <p:cNvSpPr txBox="1"/>
          <p:nvPr/>
        </p:nvSpPr>
        <p:spPr>
          <a:xfrm>
            <a:off x="6572250" y="3158579"/>
            <a:ext cx="4762500" cy="2133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1200"/>
              <a:buFont typeface="Arial"/>
              <a:buNone/>
            </a:pPr>
            <a:r>
              <a:rPr lang="en-US" sz="1200" b="1" i="0" u="none" strike="noStrike" cap="none">
                <a:solidFill>
                  <a:srgbClr val="FFFFFF"/>
                </a:solidFill>
                <a:latin typeface="Lato"/>
                <a:ea typeface="Lato"/>
                <a:cs typeface="Lato"/>
                <a:sym typeface="Lato"/>
              </a:rPr>
              <a:t>Course:</a:t>
            </a:r>
            <a:r>
              <a:rPr lang="en-US" sz="1200" b="0" i="0" u="none" strike="noStrike" cap="none">
                <a:solidFill>
                  <a:srgbClr val="CCCCCC"/>
                </a:solidFill>
                <a:latin typeface="Lato"/>
                <a:ea typeface="Lato"/>
                <a:cs typeface="Lato"/>
                <a:sym typeface="Lato"/>
              </a:rPr>
              <a:t> Btech CS(DS + AI) | </a:t>
            </a:r>
            <a:r>
              <a:rPr lang="en-US" sz="1200" b="1" i="0" u="none" strike="noStrike" cap="none">
                <a:solidFill>
                  <a:srgbClr val="FFFFFF"/>
                </a:solidFill>
                <a:latin typeface="Lato"/>
                <a:ea typeface="Lato"/>
                <a:cs typeface="Lato"/>
                <a:sym typeface="Lato"/>
              </a:rPr>
              <a:t>Year/Sem:</a:t>
            </a:r>
            <a:r>
              <a:rPr lang="en-US" sz="1200" b="0" i="0" u="none" strike="noStrike" cap="none">
                <a:solidFill>
                  <a:srgbClr val="CCCCCC"/>
                </a:solidFill>
                <a:latin typeface="Lato"/>
                <a:ea typeface="Lato"/>
                <a:cs typeface="Lato"/>
                <a:sym typeface="Lato"/>
              </a:rPr>
              <a:t> 2nd Year, 3rd Sem</a:t>
            </a:r>
            <a:endParaRPr sz="1400" b="0" i="0" u="none" strike="noStrike" cap="none">
              <a:solidFill>
                <a:srgbClr val="000000"/>
              </a:solidFill>
              <a:latin typeface="Arial"/>
              <a:ea typeface="Arial"/>
              <a:cs typeface="Arial"/>
              <a:sym typeface="Arial"/>
            </a:endParaRPr>
          </a:p>
        </p:txBody>
      </p:sp>
      <p:sp>
        <p:nvSpPr>
          <p:cNvPr id="316" name="Google Shape;316;p1"/>
          <p:cNvSpPr txBox="1"/>
          <p:nvPr/>
        </p:nvSpPr>
        <p:spPr>
          <a:xfrm>
            <a:off x="6572250" y="3486150"/>
            <a:ext cx="4762500" cy="2133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1200"/>
              <a:buFont typeface="Arial"/>
              <a:buNone/>
            </a:pPr>
            <a:r>
              <a:rPr lang="en-US" sz="1200" b="1" i="0" u="none" strike="noStrike" cap="none">
                <a:solidFill>
                  <a:srgbClr val="FFFFFF"/>
                </a:solidFill>
                <a:latin typeface="Lato"/>
                <a:ea typeface="Lato"/>
                <a:cs typeface="Lato"/>
                <a:sym typeface="Lato"/>
              </a:rPr>
              <a:t>Subject:</a:t>
            </a:r>
            <a:r>
              <a:rPr lang="en-US" sz="1200" b="0" i="0" u="none" strike="noStrike" cap="none">
                <a:solidFill>
                  <a:srgbClr val="CCCCCC"/>
                </a:solidFill>
                <a:latin typeface="Lato"/>
                <a:ea typeface="Lato"/>
                <a:cs typeface="Lato"/>
                <a:sym typeface="Lato"/>
              </a:rPr>
              <a:t> Data Analytics &amp; Reporting (UCS3804)</a:t>
            </a:r>
            <a:endParaRPr sz="1400" b="0" i="0" u="none" strike="noStrike" cap="none">
              <a:solidFill>
                <a:srgbClr val="000000"/>
              </a:solidFill>
              <a:latin typeface="Arial"/>
              <a:ea typeface="Arial"/>
              <a:cs typeface="Arial"/>
              <a:sym typeface="Arial"/>
            </a:endParaRPr>
          </a:p>
        </p:txBody>
      </p:sp>
      <p:sp>
        <p:nvSpPr>
          <p:cNvPr id="317" name="Google Shape;317;p1"/>
          <p:cNvSpPr txBox="1"/>
          <p:nvPr/>
        </p:nvSpPr>
        <p:spPr>
          <a:xfrm>
            <a:off x="6572250" y="3813720"/>
            <a:ext cx="4762500" cy="2133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1200"/>
              <a:buFont typeface="Arial"/>
              <a:buNone/>
            </a:pPr>
            <a:r>
              <a:rPr lang="en-US" sz="1200" b="1" i="0" u="none" strike="noStrike" cap="none">
                <a:solidFill>
                  <a:srgbClr val="FFFFFF"/>
                </a:solidFill>
                <a:latin typeface="Lato"/>
                <a:ea typeface="Lato"/>
                <a:cs typeface="Lato"/>
                <a:sym typeface="Lato"/>
              </a:rPr>
              <a:t>Faculty:</a:t>
            </a:r>
            <a:r>
              <a:rPr lang="en-US" sz="1200" b="0" i="0" u="none" strike="noStrike" cap="none">
                <a:solidFill>
                  <a:srgbClr val="CCCCCC"/>
                </a:solidFill>
                <a:latin typeface="Lato"/>
                <a:ea typeface="Lato"/>
                <a:cs typeface="Lato"/>
                <a:sym typeface="Lato"/>
              </a:rPr>
              <a:t> Ms. Deepika Tiwari</a:t>
            </a:r>
            <a:endParaRPr sz="1400" b="0" i="0" u="none" strike="noStrike" cap="none">
              <a:solidFill>
                <a:srgbClr val="000000"/>
              </a:solidFill>
              <a:latin typeface="Arial"/>
              <a:ea typeface="Arial"/>
              <a:cs typeface="Arial"/>
              <a:sym typeface="Arial"/>
            </a:endParaRPr>
          </a:p>
        </p:txBody>
      </p:sp>
      <p:sp>
        <p:nvSpPr>
          <p:cNvPr id="318" name="Google Shape;318;p1"/>
          <p:cNvSpPr txBox="1"/>
          <p:nvPr/>
        </p:nvSpPr>
        <p:spPr>
          <a:xfrm>
            <a:off x="6572250" y="4141291"/>
            <a:ext cx="4762500" cy="2133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1200"/>
              <a:buFont typeface="Arial"/>
              <a:buNone/>
            </a:pPr>
            <a:r>
              <a:rPr lang="en-US" sz="1200" b="1" i="0" u="none" strike="noStrike" cap="none">
                <a:solidFill>
                  <a:srgbClr val="FFFFFF"/>
                </a:solidFill>
                <a:latin typeface="Lato"/>
                <a:ea typeface="Lato"/>
                <a:cs typeface="Lato"/>
                <a:sym typeface="Lato"/>
              </a:rPr>
              <a:t>Group:</a:t>
            </a:r>
            <a:r>
              <a:rPr lang="en-US" sz="1200" b="0" i="0" u="none" strike="noStrike" cap="none">
                <a:solidFill>
                  <a:srgbClr val="CCCCCC"/>
                </a:solidFill>
                <a:latin typeface="Lato"/>
                <a:ea typeface="Lato"/>
                <a:cs typeface="Lato"/>
                <a:sym typeface="Lato"/>
              </a:rPr>
              <a:t> 34</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98"/>
        <p:cNvGrpSpPr/>
        <p:nvPr/>
      </p:nvGrpSpPr>
      <p:grpSpPr>
        <a:xfrm>
          <a:off x="0" y="0"/>
          <a:ext cx="0" cy="0"/>
          <a:chOff x="0" y="0"/>
          <a:chExt cx="0" cy="0"/>
        </a:xfrm>
      </p:grpSpPr>
      <p:pic>
        <p:nvPicPr>
          <p:cNvPr id="99" name="Google Shape;99;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0" name="Google Shape;100;p14"/>
          <p:cNvSpPr txBox="1"/>
          <p:nvPr/>
        </p:nvSpPr>
        <p:spPr>
          <a:xfrm>
            <a:off x="2190750" y="2000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CCCCC"/>
                </a:solidFill>
                <a:latin typeface="Lato"/>
                <a:ea typeface="Lato"/>
                <a:cs typeface="Lato"/>
                <a:sym typeface="Lato"/>
              </a:rPr>
              <a:t>The challenge of modern data analysis is transforming large volumes of raw data into reliable, actionable insights.</a:t>
            </a:r>
            <a:endParaRPr/>
          </a:p>
        </p:txBody>
      </p:sp>
      <p:sp>
        <p:nvSpPr>
          <p:cNvPr id="101" name="Google Shape;101;p14"/>
          <p:cNvSpPr txBox="1"/>
          <p:nvPr/>
        </p:nvSpPr>
        <p:spPr>
          <a:xfrm>
            <a:off x="2190750" y="2762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CCCCC"/>
                </a:solidFill>
                <a:latin typeface="Lato"/>
                <a:ea typeface="Lato"/>
                <a:cs typeface="Lato"/>
                <a:sym typeface="Lato"/>
              </a:rPr>
              <a:t>This project documents a hybrid workflow combining Microsoft Excel, Python, and Power BI to demonstrate a practical, end-to-end methodology.</a:t>
            </a:r>
            <a:endParaRPr/>
          </a:p>
        </p:txBody>
      </p:sp>
      <p:sp>
        <p:nvSpPr>
          <p:cNvPr id="102" name="Google Shape;102;p14"/>
          <p:cNvSpPr txBox="1"/>
          <p:nvPr/>
        </p:nvSpPr>
        <p:spPr>
          <a:xfrm>
            <a:off x="2190750" y="3524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FFFFF"/>
                </a:solidFill>
                <a:latin typeface="Lato"/>
                <a:ea typeface="Lato"/>
                <a:cs typeface="Lato"/>
                <a:sym typeface="Lato"/>
              </a:rPr>
              <a:t>Excel:</a:t>
            </a:r>
            <a:r>
              <a:rPr lang="en-US" sz="1500" b="0" i="0" u="none" strike="noStrike" cap="none">
                <a:solidFill>
                  <a:srgbClr val="CCCCCC"/>
                </a:solidFill>
                <a:latin typeface="Lato"/>
                <a:ea typeface="Lato"/>
                <a:cs typeface="Lato"/>
                <a:sym typeface="Lato"/>
              </a:rPr>
              <a:t> Used for immediate data inspection, crucial quality control, and rapid preliminary summary statistics.</a:t>
            </a:r>
            <a:endParaRPr/>
          </a:p>
        </p:txBody>
      </p:sp>
      <p:sp>
        <p:nvSpPr>
          <p:cNvPr id="103" name="Google Shape;103;p14"/>
          <p:cNvSpPr txBox="1"/>
          <p:nvPr/>
        </p:nvSpPr>
        <p:spPr>
          <a:xfrm>
            <a:off x="2190750" y="4286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FFFFF"/>
                </a:solidFill>
                <a:latin typeface="Lato"/>
                <a:ea typeface="Lato"/>
                <a:cs typeface="Lato"/>
                <a:sym typeface="Lato"/>
              </a:rPr>
              <a:t>Python:</a:t>
            </a:r>
            <a:r>
              <a:rPr lang="en-US" sz="1500" b="0" i="0" u="none" strike="noStrike" cap="none">
                <a:solidFill>
                  <a:srgbClr val="CCCCCC"/>
                </a:solidFill>
                <a:latin typeface="Lato"/>
                <a:ea typeface="Lato"/>
                <a:cs typeface="Lato"/>
                <a:sym typeface="Lato"/>
              </a:rPr>
              <a:t> Utilized for scalability, rigorous cleaning (Pandas), complex aggregation, and professional statistical visualization (Matplotlib).</a:t>
            </a:r>
            <a:endParaRPr/>
          </a:p>
        </p:txBody>
      </p:sp>
      <p:sp>
        <p:nvSpPr>
          <p:cNvPr id="104" name="Google Shape;104;p14"/>
          <p:cNvSpPr txBox="1"/>
          <p:nvPr/>
        </p:nvSpPr>
        <p:spPr>
          <a:xfrm>
            <a:off x="2190750" y="5048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FFFFF"/>
                </a:solidFill>
                <a:latin typeface="Lato"/>
                <a:ea typeface="Lato"/>
                <a:cs typeface="Lato"/>
                <a:sym typeface="Lato"/>
              </a:rPr>
              <a:t>Power BI:</a:t>
            </a:r>
            <a:r>
              <a:rPr lang="en-US" sz="1500" b="0" i="0" u="none" strike="noStrike" cap="none">
                <a:solidFill>
                  <a:srgbClr val="CCCCCC"/>
                </a:solidFill>
                <a:latin typeface="Lato"/>
                <a:ea typeface="Lato"/>
                <a:cs typeface="Lato"/>
                <a:sym typeface="Lato"/>
              </a:rPr>
              <a:t> Leveraged for building an interactive Business Intelligence report to consolidate and present findings.</a:t>
            </a:r>
            <a:endParaRPr/>
          </a:p>
        </p:txBody>
      </p:sp>
      <p:pic>
        <p:nvPicPr>
          <p:cNvPr id="105" name="Google Shape;105;p14" descr="image.png"/>
          <p:cNvPicPr preferRelativeResize="0"/>
          <p:nvPr/>
        </p:nvPicPr>
        <p:blipFill rotWithShape="1">
          <a:blip r:embed="rId4">
            <a:alphaModFix/>
          </a:blip>
          <a:srcRect/>
          <a:stretch/>
        </p:blipFill>
        <p:spPr>
          <a:xfrm>
            <a:off x="1809750" y="2047875"/>
            <a:ext cx="200025" cy="228600"/>
          </a:xfrm>
          <a:prstGeom prst="rect">
            <a:avLst/>
          </a:prstGeom>
          <a:noFill/>
          <a:ln>
            <a:noFill/>
          </a:ln>
        </p:spPr>
      </p:pic>
      <p:pic>
        <p:nvPicPr>
          <p:cNvPr id="106" name="Google Shape;106;p14" descr="image.png"/>
          <p:cNvPicPr preferRelativeResize="0"/>
          <p:nvPr/>
        </p:nvPicPr>
        <p:blipFill rotWithShape="1">
          <a:blip r:embed="rId5">
            <a:alphaModFix/>
          </a:blip>
          <a:srcRect/>
          <a:stretch/>
        </p:blipFill>
        <p:spPr>
          <a:xfrm>
            <a:off x="1809750" y="2809875"/>
            <a:ext cx="257175" cy="228600"/>
          </a:xfrm>
          <a:prstGeom prst="rect">
            <a:avLst/>
          </a:prstGeom>
          <a:noFill/>
          <a:ln>
            <a:noFill/>
          </a:ln>
        </p:spPr>
      </p:pic>
      <p:pic>
        <p:nvPicPr>
          <p:cNvPr id="107" name="Google Shape;107;p14" descr="image.png"/>
          <p:cNvPicPr preferRelativeResize="0"/>
          <p:nvPr/>
        </p:nvPicPr>
        <p:blipFill rotWithShape="1">
          <a:blip r:embed="rId6">
            <a:alphaModFix/>
          </a:blip>
          <a:srcRect/>
          <a:stretch/>
        </p:blipFill>
        <p:spPr>
          <a:xfrm>
            <a:off x="1809750" y="3571875"/>
            <a:ext cx="171450" cy="228600"/>
          </a:xfrm>
          <a:prstGeom prst="rect">
            <a:avLst/>
          </a:prstGeom>
          <a:noFill/>
          <a:ln>
            <a:noFill/>
          </a:ln>
        </p:spPr>
      </p:pic>
      <p:pic>
        <p:nvPicPr>
          <p:cNvPr id="108" name="Google Shape;108;p14" descr="image.png"/>
          <p:cNvPicPr preferRelativeResize="0"/>
          <p:nvPr/>
        </p:nvPicPr>
        <p:blipFill rotWithShape="1">
          <a:blip r:embed="rId7">
            <a:alphaModFix/>
          </a:blip>
          <a:srcRect/>
          <a:stretch/>
        </p:blipFill>
        <p:spPr>
          <a:xfrm>
            <a:off x="1809750" y="4333875"/>
            <a:ext cx="285750" cy="228600"/>
          </a:xfrm>
          <a:prstGeom prst="rect">
            <a:avLst/>
          </a:prstGeom>
          <a:noFill/>
          <a:ln>
            <a:noFill/>
          </a:ln>
        </p:spPr>
      </p:pic>
      <p:pic>
        <p:nvPicPr>
          <p:cNvPr id="109" name="Google Shape;109;p14" descr="image.png"/>
          <p:cNvPicPr preferRelativeResize="0"/>
          <p:nvPr/>
        </p:nvPicPr>
        <p:blipFill rotWithShape="1">
          <a:blip r:embed="rId8">
            <a:alphaModFix/>
          </a:blip>
          <a:srcRect/>
          <a:stretch/>
        </p:blipFill>
        <p:spPr>
          <a:xfrm>
            <a:off x="1809750" y="5095875"/>
            <a:ext cx="257175" cy="228600"/>
          </a:xfrm>
          <a:prstGeom prst="rect">
            <a:avLst/>
          </a:prstGeom>
          <a:noFill/>
          <a:ln>
            <a:noFill/>
          </a:ln>
        </p:spPr>
      </p:pic>
      <p:sp>
        <p:nvSpPr>
          <p:cNvPr id="110" name="Google Shape;110;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E50914"/>
                </a:solidFill>
                <a:latin typeface="Poppins"/>
                <a:ea typeface="Poppins"/>
                <a:cs typeface="Poppins"/>
                <a:sym typeface="Poppins"/>
              </a:rPr>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114"/>
        <p:cNvGrpSpPr/>
        <p:nvPr/>
      </p:nvGrpSpPr>
      <p:grpSpPr>
        <a:xfrm>
          <a:off x="0" y="0"/>
          <a:ext cx="0" cy="0"/>
          <a:chOff x="0" y="0"/>
          <a:chExt cx="0" cy="0"/>
        </a:xfrm>
      </p:grpSpPr>
      <p:pic>
        <p:nvPicPr>
          <p:cNvPr id="115" name="Google Shape;11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6" name="Google Shape;116;p15" descr="image.png"/>
          <p:cNvPicPr preferRelativeResize="0"/>
          <p:nvPr/>
        </p:nvPicPr>
        <p:blipFill rotWithShape="1">
          <a:blip r:embed="rId4">
            <a:alphaModFix/>
          </a:blip>
          <a:srcRect/>
          <a:stretch/>
        </p:blipFill>
        <p:spPr>
          <a:xfrm>
            <a:off x="571500" y="2000250"/>
            <a:ext cx="5286375" cy="3810000"/>
          </a:xfrm>
          <a:prstGeom prst="rect">
            <a:avLst/>
          </a:prstGeom>
          <a:noFill/>
          <a:ln>
            <a:noFill/>
          </a:ln>
        </p:spPr>
      </p:pic>
      <p:pic>
        <p:nvPicPr>
          <p:cNvPr id="117" name="Google Shape;117;p15" descr="image.png"/>
          <p:cNvPicPr preferRelativeResize="0"/>
          <p:nvPr/>
        </p:nvPicPr>
        <p:blipFill rotWithShape="1">
          <a:blip r:embed="rId5">
            <a:alphaModFix/>
          </a:blip>
          <a:srcRect/>
          <a:stretch/>
        </p:blipFill>
        <p:spPr>
          <a:xfrm>
            <a:off x="6334125" y="2000250"/>
            <a:ext cx="5286375" cy="3810000"/>
          </a:xfrm>
          <a:prstGeom prst="rect">
            <a:avLst/>
          </a:prstGeom>
          <a:noFill/>
          <a:ln>
            <a:noFill/>
          </a:ln>
        </p:spPr>
      </p:pic>
      <p:sp>
        <p:nvSpPr>
          <p:cNvPr id="118" name="Google Shape;118;p15"/>
          <p:cNvSpPr txBox="1"/>
          <p:nvPr/>
        </p:nvSpPr>
        <p:spPr>
          <a:xfrm>
            <a:off x="962025" y="2390775"/>
            <a:ext cx="4730591"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A8E8"/>
                </a:solidFill>
                <a:latin typeface="Poppins"/>
                <a:ea typeface="Poppins"/>
                <a:cs typeface="Poppins"/>
                <a:sym typeface="Poppins"/>
              </a:rPr>
              <a:t>Data Acquisition &amp; Preprocessing</a:t>
            </a:r>
            <a:endParaRPr/>
          </a:p>
        </p:txBody>
      </p:sp>
      <p:sp>
        <p:nvSpPr>
          <p:cNvPr id="119" name="Google Shape;119;p15"/>
          <p:cNvSpPr txBox="1"/>
          <p:nvPr/>
        </p:nvSpPr>
        <p:spPr>
          <a:xfrm>
            <a:off x="6724650" y="2390775"/>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A8E8"/>
                </a:solidFill>
                <a:latin typeface="Poppins"/>
                <a:ea typeface="Poppins"/>
                <a:cs typeface="Poppins"/>
                <a:sym typeface="Poppins"/>
              </a:rPr>
              <a:t>Analysis &amp; Reporting</a:t>
            </a:r>
            <a:endParaRPr/>
          </a:p>
        </p:txBody>
      </p:sp>
      <p:sp>
        <p:nvSpPr>
          <p:cNvPr id="120" name="Google Shape;120;p15"/>
          <p:cNvSpPr txBox="1"/>
          <p:nvPr/>
        </p:nvSpPr>
        <p:spPr>
          <a:xfrm>
            <a:off x="1200150" y="3448050"/>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Primary dataset acquired from the public IMDb repository.</a:t>
            </a:r>
            <a:endParaRPr/>
          </a:p>
        </p:txBody>
      </p:sp>
      <p:sp>
        <p:nvSpPr>
          <p:cNvPr id="121" name="Google Shape;121;p15"/>
          <p:cNvSpPr txBox="1"/>
          <p:nvPr/>
        </p:nvSpPr>
        <p:spPr>
          <a:xfrm>
            <a:off x="1200150" y="4105275"/>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Conditional formatting applied to systematically highlight and isolate missing or null entries.</a:t>
            </a:r>
            <a:endParaRPr/>
          </a:p>
        </p:txBody>
      </p:sp>
      <p:sp>
        <p:nvSpPr>
          <p:cNvPr id="122" name="Google Shape;122;p15"/>
          <p:cNvSpPr txBox="1"/>
          <p:nvPr/>
        </p:nvSpPr>
        <p:spPr>
          <a:xfrm>
            <a:off x="1200150" y="4762500"/>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Missing numerical values addressed using mean imputation to maintain sample size and minimize bias.</a:t>
            </a:r>
            <a:endParaRPr/>
          </a:p>
        </p:txBody>
      </p:sp>
      <p:sp>
        <p:nvSpPr>
          <p:cNvPr id="123" name="Google Shape;123;p15"/>
          <p:cNvSpPr txBox="1"/>
          <p:nvPr/>
        </p:nvSpPr>
        <p:spPr>
          <a:xfrm>
            <a:off x="6962775" y="2990850"/>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A Pivot Table was constructed to summarize the data, aggregating the total count of movie releases by year.</a:t>
            </a:r>
            <a:endParaRPr/>
          </a:p>
        </p:txBody>
      </p:sp>
      <p:sp>
        <p:nvSpPr>
          <p:cNvPr id="124" name="Google Shape;124;p15"/>
          <p:cNvSpPr txBox="1"/>
          <p:nvPr/>
        </p:nvSpPr>
        <p:spPr>
          <a:xfrm>
            <a:off x="6962775" y="3648075"/>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The resulting time-series data was visualized using a Line Chart.</a:t>
            </a:r>
            <a:endParaRPr/>
          </a:p>
        </p:txBody>
      </p:sp>
      <p:sp>
        <p:nvSpPr>
          <p:cNvPr id="125" name="Google Shape;125;p15"/>
          <p:cNvSpPr txBox="1"/>
          <p:nvPr/>
        </p:nvSpPr>
        <p:spPr>
          <a:xfrm>
            <a:off x="6962775" y="4305300"/>
            <a:ext cx="42672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This chart represents the historical trend of movie production, allowing for clear observation of release volumes.</a:t>
            </a:r>
            <a:endParaRPr/>
          </a:p>
        </p:txBody>
      </p:sp>
      <p:sp>
        <p:nvSpPr>
          <p:cNvPr id="126" name="Google Shape;126;p15"/>
          <p:cNvSpPr txBox="1"/>
          <p:nvPr/>
        </p:nvSpPr>
        <p:spPr>
          <a:xfrm>
            <a:off x="962025" y="3448050"/>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27" name="Google Shape;127;p15"/>
          <p:cNvSpPr txBox="1"/>
          <p:nvPr/>
        </p:nvSpPr>
        <p:spPr>
          <a:xfrm>
            <a:off x="962025" y="4105275"/>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28" name="Google Shape;128;p15"/>
          <p:cNvSpPr txBox="1"/>
          <p:nvPr/>
        </p:nvSpPr>
        <p:spPr>
          <a:xfrm>
            <a:off x="962025" y="4762500"/>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29" name="Google Shape;129;p15"/>
          <p:cNvSpPr txBox="1"/>
          <p:nvPr/>
        </p:nvSpPr>
        <p:spPr>
          <a:xfrm>
            <a:off x="6724650" y="2990850"/>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30" name="Google Shape;130;p15"/>
          <p:cNvSpPr txBox="1"/>
          <p:nvPr/>
        </p:nvSpPr>
        <p:spPr>
          <a:xfrm>
            <a:off x="6724650" y="3648075"/>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31" name="Google Shape;131;p15"/>
          <p:cNvSpPr txBox="1"/>
          <p:nvPr/>
        </p:nvSpPr>
        <p:spPr>
          <a:xfrm>
            <a:off x="6724650" y="4305300"/>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32" name="Google Shape;132;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E50914"/>
                </a:solidFill>
                <a:latin typeface="Poppins"/>
                <a:ea typeface="Poppins"/>
                <a:cs typeface="Poppins"/>
                <a:sym typeface="Poppins"/>
              </a:rPr>
              <a:t>Excel Methodology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136"/>
        <p:cNvGrpSpPr/>
        <p:nvPr/>
      </p:nvGrpSpPr>
      <p:grpSpPr>
        <a:xfrm>
          <a:off x="0" y="0"/>
          <a:ext cx="0" cy="0"/>
          <a:chOff x="0" y="0"/>
          <a:chExt cx="0" cy="0"/>
        </a:xfrm>
      </p:grpSpPr>
      <p:pic>
        <p:nvPicPr>
          <p:cNvPr id="137" name="Google Shape;137;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8" name="Google Shape;138;p16" descr="image.png"/>
          <p:cNvPicPr preferRelativeResize="0"/>
          <p:nvPr/>
        </p:nvPicPr>
        <p:blipFill rotWithShape="1">
          <a:blip r:embed="rId4">
            <a:alphaModFix/>
          </a:blip>
          <a:srcRect/>
          <a:stretch/>
        </p:blipFill>
        <p:spPr>
          <a:xfrm>
            <a:off x="571500" y="1743075"/>
            <a:ext cx="5286375" cy="4324350"/>
          </a:xfrm>
          <a:prstGeom prst="rect">
            <a:avLst/>
          </a:prstGeom>
          <a:noFill/>
          <a:ln>
            <a:noFill/>
          </a:ln>
        </p:spPr>
      </p:pic>
      <p:pic>
        <p:nvPicPr>
          <p:cNvPr id="139" name="Google Shape;139;p16" descr="image.png"/>
          <p:cNvPicPr preferRelativeResize="0"/>
          <p:nvPr/>
        </p:nvPicPr>
        <p:blipFill rotWithShape="1">
          <a:blip r:embed="rId5">
            <a:alphaModFix/>
          </a:blip>
          <a:srcRect/>
          <a:stretch/>
        </p:blipFill>
        <p:spPr>
          <a:xfrm>
            <a:off x="6334125" y="1743075"/>
            <a:ext cx="5286375" cy="4324350"/>
          </a:xfrm>
          <a:prstGeom prst="rect">
            <a:avLst/>
          </a:prstGeom>
          <a:noFill/>
          <a:ln>
            <a:noFill/>
          </a:ln>
        </p:spPr>
      </p:pic>
      <p:sp>
        <p:nvSpPr>
          <p:cNvPr id="140" name="Google Shape;140;p16"/>
          <p:cNvSpPr txBox="1"/>
          <p:nvPr/>
        </p:nvSpPr>
        <p:spPr>
          <a:xfrm>
            <a:off x="962025" y="2133600"/>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A8E8"/>
                </a:solidFill>
                <a:latin typeface="Poppins"/>
                <a:ea typeface="Poppins"/>
                <a:cs typeface="Poppins"/>
                <a:sym typeface="Poppins"/>
              </a:rPr>
              <a:t>Data Ingestion &amp; Wrangling</a:t>
            </a:r>
            <a:endParaRPr/>
          </a:p>
        </p:txBody>
      </p:sp>
      <p:sp>
        <p:nvSpPr>
          <p:cNvPr id="141" name="Google Shape;141;p16"/>
          <p:cNvSpPr txBox="1"/>
          <p:nvPr/>
        </p:nvSpPr>
        <p:spPr>
          <a:xfrm>
            <a:off x="6724650" y="2133600"/>
            <a:ext cx="4730591"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A8E8"/>
                </a:solidFill>
                <a:latin typeface="Poppins"/>
                <a:ea typeface="Poppins"/>
                <a:cs typeface="Poppins"/>
                <a:sym typeface="Poppins"/>
              </a:rPr>
              <a:t>Exploratory Data Visualization (Matplotlib)</a:t>
            </a:r>
            <a:endParaRPr/>
          </a:p>
        </p:txBody>
      </p:sp>
      <p:sp>
        <p:nvSpPr>
          <p:cNvPr id="142" name="Google Shape;142;p16"/>
          <p:cNvSpPr txBox="1"/>
          <p:nvPr/>
        </p:nvSpPr>
        <p:spPr>
          <a:xfrm>
            <a:off x="1200150" y="2733675"/>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Data ingestion performed using the Pandas library, establishing a DataFrame structure.</a:t>
            </a:r>
            <a:endParaRPr/>
          </a:p>
        </p:txBody>
      </p:sp>
      <p:sp>
        <p:nvSpPr>
          <p:cNvPr id="143" name="Google Shape;143;p16"/>
          <p:cNvSpPr txBox="1"/>
          <p:nvPr/>
        </p:nvSpPr>
        <p:spPr>
          <a:xfrm>
            <a:off x="1200150" y="3390900"/>
            <a:ext cx="42672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Comprehensive quality checks implemented.</a:t>
            </a:r>
            <a:endParaRPr/>
          </a:p>
        </p:txBody>
      </p:sp>
      <p:sp>
        <p:nvSpPr>
          <p:cNvPr id="144" name="Google Shape;144;p16"/>
          <p:cNvSpPr txBox="1"/>
          <p:nvPr/>
        </p:nvSpPr>
        <p:spPr>
          <a:xfrm>
            <a:off x="1200150" y="3790950"/>
            <a:ext cx="4267200" cy="523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fillna() applied to perform mean imputation on specific columns.</a:t>
            </a:r>
            <a:endParaRPr/>
          </a:p>
        </p:txBody>
      </p:sp>
      <p:sp>
        <p:nvSpPr>
          <p:cNvPr id="145" name="Google Shape;145;p16"/>
          <p:cNvSpPr txBox="1"/>
          <p:nvPr/>
        </p:nvSpPr>
        <p:spPr>
          <a:xfrm>
            <a:off x="1200150" y="4457700"/>
            <a:ext cx="4267200" cy="523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dropna() used to systematically remove rows containing null values that could not be logically imputed.</a:t>
            </a:r>
            <a:endParaRPr/>
          </a:p>
        </p:txBody>
      </p:sp>
      <p:sp>
        <p:nvSpPr>
          <p:cNvPr id="146" name="Google Shape;146;p16"/>
          <p:cNvSpPr txBox="1"/>
          <p:nvPr/>
        </p:nvSpPr>
        <p:spPr>
          <a:xfrm>
            <a:off x="6962775" y="3190875"/>
            <a:ext cx="42672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AAAAAA"/>
                </a:solidFill>
                <a:latin typeface="Lato"/>
                <a:ea typeface="Lato"/>
                <a:cs typeface="Lato"/>
                <a:sym typeface="Lato"/>
              </a:rPr>
              <a:t>Bivariate Analysis (Scatter Plot):</a:t>
            </a:r>
            <a:r>
              <a:rPr lang="en-US" sz="1350" b="0" i="0" u="none" strike="noStrike" cap="none">
                <a:solidFill>
                  <a:srgbClr val="AAAAAA"/>
                </a:solidFill>
                <a:latin typeface="Lato"/>
                <a:ea typeface="Lato"/>
                <a:cs typeface="Lato"/>
                <a:sym typeface="Lato"/>
              </a:rPr>
              <a:t> Visualized the distribution of movies based on Gross Revenue and IMDb Rating to find correlation.</a:t>
            </a:r>
            <a:endParaRPr/>
          </a:p>
        </p:txBody>
      </p:sp>
      <p:sp>
        <p:nvSpPr>
          <p:cNvPr id="147" name="Google Shape;147;p16"/>
          <p:cNvSpPr txBox="1"/>
          <p:nvPr/>
        </p:nvSpPr>
        <p:spPr>
          <a:xfrm>
            <a:off x="6962775" y="4105275"/>
            <a:ext cx="42672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AAAAAA"/>
                </a:solidFill>
                <a:latin typeface="Lato"/>
                <a:ea typeface="Lato"/>
                <a:cs typeface="Lato"/>
                <a:sym typeface="Lato"/>
              </a:rPr>
              <a:t>Categorical Analysis (Bar Plot):</a:t>
            </a:r>
            <a:r>
              <a:rPr lang="en-US" sz="1350" b="0" i="0" u="none" strike="noStrike" cap="none">
                <a:solidFill>
                  <a:srgbClr val="AAAAAA"/>
                </a:solidFill>
                <a:latin typeface="Lato"/>
                <a:ea typeface="Lato"/>
                <a:cs typeface="Lato"/>
                <a:sym typeface="Lato"/>
              </a:rPr>
              <a:t> Generated to compare mean IMDb Rating across different movie certification categories.</a:t>
            </a:r>
            <a:endParaRPr/>
          </a:p>
        </p:txBody>
      </p:sp>
      <p:sp>
        <p:nvSpPr>
          <p:cNvPr id="148" name="Google Shape;148;p16"/>
          <p:cNvSpPr txBox="1"/>
          <p:nvPr/>
        </p:nvSpPr>
        <p:spPr>
          <a:xfrm>
            <a:off x="6962775" y="5019675"/>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AAAAAA"/>
                </a:solidFill>
                <a:latin typeface="Lato"/>
                <a:ea typeface="Lato"/>
                <a:cs typeface="Lato"/>
                <a:sym typeface="Lato"/>
              </a:rPr>
              <a:t>Correlation Matrix (Heatmap):</a:t>
            </a:r>
            <a:r>
              <a:rPr lang="en-US" sz="1350" b="0" i="0" u="none" strike="noStrike" cap="none">
                <a:solidFill>
                  <a:srgbClr val="AAAAAA"/>
                </a:solidFill>
                <a:latin typeface="Lato"/>
                <a:ea typeface="Lato"/>
                <a:cs typeface="Lato"/>
                <a:sym typeface="Lato"/>
              </a:rPr>
              <a:t> Displayed to assess linear relationships between all numerical variable pairs.</a:t>
            </a:r>
            <a:endParaRPr/>
          </a:p>
        </p:txBody>
      </p:sp>
      <p:sp>
        <p:nvSpPr>
          <p:cNvPr id="149" name="Google Shape;149;p16"/>
          <p:cNvSpPr txBox="1"/>
          <p:nvPr/>
        </p:nvSpPr>
        <p:spPr>
          <a:xfrm>
            <a:off x="962025" y="2733675"/>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50" name="Google Shape;150;p16"/>
          <p:cNvSpPr txBox="1"/>
          <p:nvPr/>
        </p:nvSpPr>
        <p:spPr>
          <a:xfrm>
            <a:off x="962025" y="3390900"/>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51" name="Google Shape;151;p16"/>
          <p:cNvSpPr txBox="1"/>
          <p:nvPr/>
        </p:nvSpPr>
        <p:spPr>
          <a:xfrm>
            <a:off x="962025" y="3790950"/>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52" name="Google Shape;152;p16"/>
          <p:cNvSpPr txBox="1"/>
          <p:nvPr/>
        </p:nvSpPr>
        <p:spPr>
          <a:xfrm>
            <a:off x="962025" y="4457700"/>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53" name="Google Shape;153;p16"/>
          <p:cNvSpPr txBox="1"/>
          <p:nvPr/>
        </p:nvSpPr>
        <p:spPr>
          <a:xfrm>
            <a:off x="6724650" y="3190875"/>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54" name="Google Shape;154;p16"/>
          <p:cNvSpPr txBox="1"/>
          <p:nvPr/>
        </p:nvSpPr>
        <p:spPr>
          <a:xfrm>
            <a:off x="6724650" y="4105275"/>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55" name="Google Shape;155;p16"/>
          <p:cNvSpPr txBox="1"/>
          <p:nvPr/>
        </p:nvSpPr>
        <p:spPr>
          <a:xfrm>
            <a:off x="6724650" y="5019675"/>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56" name="Google Shape;156;p16"/>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E50914"/>
                </a:solidFill>
                <a:latin typeface="Poppins"/>
                <a:ea typeface="Poppins"/>
                <a:cs typeface="Poppins"/>
                <a:sym typeface="Poppins"/>
              </a:rPr>
              <a:t>Python Methodology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160"/>
        <p:cNvGrpSpPr/>
        <p:nvPr/>
      </p:nvGrpSpPr>
      <p:grpSpPr>
        <a:xfrm>
          <a:off x="0" y="0"/>
          <a:ext cx="0" cy="0"/>
          <a:chOff x="0" y="0"/>
          <a:chExt cx="0" cy="0"/>
        </a:xfrm>
      </p:grpSpPr>
      <p:pic>
        <p:nvPicPr>
          <p:cNvPr id="161" name="Google Shape;161;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2" name="Google Shape;162;p17" descr="image.png"/>
          <p:cNvPicPr preferRelativeResize="0"/>
          <p:nvPr/>
        </p:nvPicPr>
        <p:blipFill rotWithShape="1">
          <a:blip r:embed="rId4">
            <a:alphaModFix/>
          </a:blip>
          <a:srcRect/>
          <a:stretch/>
        </p:blipFill>
        <p:spPr>
          <a:xfrm>
            <a:off x="571500" y="1957387"/>
            <a:ext cx="5286375" cy="3895725"/>
          </a:xfrm>
          <a:prstGeom prst="rect">
            <a:avLst/>
          </a:prstGeom>
          <a:noFill/>
          <a:ln>
            <a:noFill/>
          </a:ln>
        </p:spPr>
      </p:pic>
      <p:pic>
        <p:nvPicPr>
          <p:cNvPr id="163" name="Google Shape;163;p17" descr="image.png"/>
          <p:cNvPicPr preferRelativeResize="0"/>
          <p:nvPr/>
        </p:nvPicPr>
        <p:blipFill rotWithShape="1">
          <a:blip r:embed="rId5">
            <a:alphaModFix/>
          </a:blip>
          <a:srcRect/>
          <a:stretch/>
        </p:blipFill>
        <p:spPr>
          <a:xfrm>
            <a:off x="6334125" y="1957387"/>
            <a:ext cx="5286375" cy="3895725"/>
          </a:xfrm>
          <a:prstGeom prst="rect">
            <a:avLst/>
          </a:prstGeom>
          <a:noFill/>
          <a:ln>
            <a:noFill/>
          </a:ln>
        </p:spPr>
      </p:pic>
      <p:sp>
        <p:nvSpPr>
          <p:cNvPr id="164" name="Google Shape;164;p17"/>
          <p:cNvSpPr txBox="1"/>
          <p:nvPr/>
        </p:nvSpPr>
        <p:spPr>
          <a:xfrm>
            <a:off x="962025" y="2347912"/>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A8E8"/>
                </a:solidFill>
                <a:latin typeface="Poppins"/>
                <a:ea typeface="Poppins"/>
                <a:cs typeface="Poppins"/>
                <a:sym typeface="Poppins"/>
              </a:rPr>
              <a:t>Data Model Preparation</a:t>
            </a:r>
            <a:endParaRPr/>
          </a:p>
        </p:txBody>
      </p:sp>
      <p:sp>
        <p:nvSpPr>
          <p:cNvPr id="165" name="Google Shape;165;p17"/>
          <p:cNvSpPr txBox="1"/>
          <p:nvPr/>
        </p:nvSpPr>
        <p:spPr>
          <a:xfrm>
            <a:off x="6724650" y="2347912"/>
            <a:ext cx="473059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A8E8"/>
                </a:solidFill>
                <a:latin typeface="Poppins"/>
                <a:ea typeface="Poppins"/>
                <a:cs typeface="Poppins"/>
                <a:sym typeface="Poppins"/>
              </a:rPr>
              <a:t>Dashboard Visualization</a:t>
            </a:r>
            <a:endParaRPr/>
          </a:p>
        </p:txBody>
      </p:sp>
      <p:sp>
        <p:nvSpPr>
          <p:cNvPr id="166" name="Google Shape;166;p17"/>
          <p:cNvSpPr txBox="1"/>
          <p:nvPr/>
        </p:nvSpPr>
        <p:spPr>
          <a:xfrm>
            <a:off x="1200150" y="2947987"/>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The cleaned and processed dataset was imported into the Power BI environment.</a:t>
            </a:r>
            <a:endParaRPr/>
          </a:p>
        </p:txBody>
      </p:sp>
      <p:sp>
        <p:nvSpPr>
          <p:cNvPr id="167" name="Google Shape;167;p17"/>
          <p:cNvSpPr txBox="1"/>
          <p:nvPr/>
        </p:nvSpPr>
        <p:spPr>
          <a:xfrm>
            <a:off x="1200150" y="3605212"/>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Data Analysis Expressions (DAX) measures were defined for key metrics:</a:t>
            </a:r>
            <a:endParaRPr/>
          </a:p>
        </p:txBody>
      </p:sp>
      <p:sp>
        <p:nvSpPr>
          <p:cNvPr id="168" name="Google Shape;168;p17"/>
          <p:cNvSpPr txBox="1"/>
          <p:nvPr/>
        </p:nvSpPr>
        <p:spPr>
          <a:xfrm>
            <a:off x="1200150" y="4262437"/>
            <a:ext cx="42672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Weighted Average Rating</a:t>
            </a:r>
            <a:endParaRPr/>
          </a:p>
        </p:txBody>
      </p:sp>
      <p:sp>
        <p:nvSpPr>
          <p:cNvPr id="169" name="Google Shape;169;p17"/>
          <p:cNvSpPr txBox="1"/>
          <p:nvPr/>
        </p:nvSpPr>
        <p:spPr>
          <a:xfrm>
            <a:off x="1200150" y="4662487"/>
            <a:ext cx="42672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Total Gross Billions</a:t>
            </a:r>
            <a:endParaRPr/>
          </a:p>
        </p:txBody>
      </p:sp>
      <p:sp>
        <p:nvSpPr>
          <p:cNvPr id="170" name="Google Shape;170;p17"/>
          <p:cNvSpPr txBox="1"/>
          <p:nvPr/>
        </p:nvSpPr>
        <p:spPr>
          <a:xfrm>
            <a:off x="1200150" y="5062537"/>
            <a:ext cx="42672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AAAAAA"/>
                </a:solidFill>
                <a:latin typeface="Lato"/>
                <a:ea typeface="Lato"/>
                <a:cs typeface="Lato"/>
                <a:sym typeface="Lato"/>
              </a:rPr>
              <a:t>Total Movies</a:t>
            </a:r>
            <a:endParaRPr/>
          </a:p>
        </p:txBody>
      </p:sp>
      <p:sp>
        <p:nvSpPr>
          <p:cNvPr id="171" name="Google Shape;171;p17"/>
          <p:cNvSpPr txBox="1"/>
          <p:nvPr/>
        </p:nvSpPr>
        <p:spPr>
          <a:xfrm>
            <a:off x="6962775" y="2947987"/>
            <a:ext cx="42672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AAAAAA"/>
                </a:solidFill>
                <a:latin typeface="Lato"/>
                <a:ea typeface="Lato"/>
                <a:cs typeface="Lato"/>
                <a:sym typeface="Lato"/>
              </a:rPr>
              <a:t>Key Performance Indicator (KPI) Cards:</a:t>
            </a:r>
            <a:r>
              <a:rPr lang="en-US" sz="1350" b="0" i="0" u="none" strike="noStrike" cap="none">
                <a:solidFill>
                  <a:srgbClr val="AAAAAA"/>
                </a:solidFill>
                <a:latin typeface="Lato"/>
                <a:ea typeface="Lato"/>
                <a:cs typeface="Lato"/>
                <a:sym typeface="Lato"/>
              </a:rPr>
              <a:t> Implemented for immediate visibility into the main performance metrics.</a:t>
            </a:r>
            <a:endParaRPr/>
          </a:p>
        </p:txBody>
      </p:sp>
      <p:sp>
        <p:nvSpPr>
          <p:cNvPr id="172" name="Google Shape;172;p17"/>
          <p:cNvSpPr txBox="1"/>
          <p:nvPr/>
        </p:nvSpPr>
        <p:spPr>
          <a:xfrm>
            <a:off x="6962775" y="3605212"/>
            <a:ext cx="42672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AAAAAA"/>
                </a:solidFill>
                <a:latin typeface="Lato"/>
                <a:ea typeface="Lato"/>
                <a:cs typeface="Lato"/>
                <a:sym typeface="Lato"/>
              </a:rPr>
              <a:t>Genre Performance (Line Chart):</a:t>
            </a:r>
            <a:r>
              <a:rPr lang="en-US" sz="1350" b="0" i="0" u="none" strike="noStrike" cap="none">
                <a:solidFill>
                  <a:srgbClr val="AAAAAA"/>
                </a:solidFill>
                <a:latin typeface="Lato"/>
                <a:ea typeface="Lato"/>
                <a:cs typeface="Lato"/>
                <a:sym typeface="Lato"/>
              </a:rPr>
              <a:t> Created to visualize Total Gross Billions by Genre, identifying high-performing markets.</a:t>
            </a:r>
            <a:endParaRPr/>
          </a:p>
        </p:txBody>
      </p:sp>
      <p:sp>
        <p:nvSpPr>
          <p:cNvPr id="173" name="Google Shape;173;p17"/>
          <p:cNvSpPr txBox="1"/>
          <p:nvPr/>
        </p:nvSpPr>
        <p:spPr>
          <a:xfrm>
            <a:off x="6962775" y="4519612"/>
            <a:ext cx="426720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AAAAAA"/>
                </a:solidFill>
                <a:latin typeface="Lato"/>
                <a:ea typeface="Lato"/>
                <a:cs typeface="Lato"/>
                <a:sym typeface="Lato"/>
              </a:rPr>
              <a:t>Performance Distribution (Scatter Plot):</a:t>
            </a:r>
            <a:r>
              <a:rPr lang="en-US" sz="1350" b="0" i="0" u="none" strike="noStrike" cap="none">
                <a:solidFill>
                  <a:srgbClr val="AAAAAA"/>
                </a:solidFill>
                <a:latin typeface="Lato"/>
                <a:ea typeface="Lato"/>
                <a:cs typeface="Lato"/>
                <a:sym typeface="Lato"/>
              </a:rPr>
              <a:t> Developed to map the relationship between IMDb Rating and Total Gross Billions.</a:t>
            </a:r>
            <a:endParaRPr/>
          </a:p>
        </p:txBody>
      </p:sp>
      <p:sp>
        <p:nvSpPr>
          <p:cNvPr id="174" name="Google Shape;174;p17"/>
          <p:cNvSpPr txBox="1"/>
          <p:nvPr/>
        </p:nvSpPr>
        <p:spPr>
          <a:xfrm>
            <a:off x="962025" y="2947987"/>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75" name="Google Shape;175;p17"/>
          <p:cNvSpPr txBox="1"/>
          <p:nvPr/>
        </p:nvSpPr>
        <p:spPr>
          <a:xfrm>
            <a:off x="962025" y="3605212"/>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76" name="Google Shape;176;p17"/>
          <p:cNvSpPr txBox="1"/>
          <p:nvPr/>
        </p:nvSpPr>
        <p:spPr>
          <a:xfrm>
            <a:off x="962025" y="4262437"/>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77" name="Google Shape;177;p17"/>
          <p:cNvSpPr txBox="1"/>
          <p:nvPr/>
        </p:nvSpPr>
        <p:spPr>
          <a:xfrm>
            <a:off x="962025" y="4662487"/>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78" name="Google Shape;178;p17"/>
          <p:cNvSpPr txBox="1"/>
          <p:nvPr/>
        </p:nvSpPr>
        <p:spPr>
          <a:xfrm>
            <a:off x="962025" y="5062537"/>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79" name="Google Shape;179;p17"/>
          <p:cNvSpPr txBox="1"/>
          <p:nvPr/>
        </p:nvSpPr>
        <p:spPr>
          <a:xfrm>
            <a:off x="6724650" y="2947987"/>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80" name="Google Shape;180;p17"/>
          <p:cNvSpPr txBox="1"/>
          <p:nvPr/>
        </p:nvSpPr>
        <p:spPr>
          <a:xfrm>
            <a:off x="6724650" y="3605212"/>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81" name="Google Shape;181;p17"/>
          <p:cNvSpPr txBox="1"/>
          <p:nvPr/>
        </p:nvSpPr>
        <p:spPr>
          <a:xfrm>
            <a:off x="6724650" y="4519612"/>
            <a:ext cx="114300" cy="20955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500" b="0" i="0" u="none" strike="noStrike" cap="none">
                <a:solidFill>
                  <a:srgbClr val="E50914"/>
                </a:solidFill>
                <a:latin typeface="Lato"/>
                <a:ea typeface="Lato"/>
                <a:cs typeface="Lato"/>
                <a:sym typeface="Lato"/>
              </a:rPr>
              <a:t>•</a:t>
            </a:r>
            <a:endParaRPr/>
          </a:p>
        </p:txBody>
      </p:sp>
      <p:sp>
        <p:nvSpPr>
          <p:cNvPr id="182" name="Google Shape;182;p1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E50914"/>
                </a:solidFill>
                <a:latin typeface="Poppins"/>
                <a:ea typeface="Poppins"/>
                <a:cs typeface="Poppins"/>
                <a:sym typeface="Poppins"/>
              </a:rPr>
              <a:t>Power BI Methodology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319"/>
        <p:cNvGrpSpPr/>
        <p:nvPr/>
      </p:nvGrpSpPr>
      <p:grpSpPr>
        <a:xfrm>
          <a:off x="0" y="0"/>
          <a:ext cx="0" cy="0"/>
          <a:chOff x="0" y="0"/>
          <a:chExt cx="0" cy="0"/>
        </a:xfrm>
      </p:grpSpPr>
      <p:pic>
        <p:nvPicPr>
          <p:cNvPr id="320" name="Google Shape;320;p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1" name="Google Shape;321;p2" descr="image.png"/>
          <p:cNvPicPr preferRelativeResize="0"/>
          <p:nvPr/>
        </p:nvPicPr>
        <p:blipFill rotWithShape="1">
          <a:blip r:embed="rId4">
            <a:alphaModFix/>
          </a:blip>
          <a:srcRect/>
          <a:stretch/>
        </p:blipFill>
        <p:spPr>
          <a:xfrm>
            <a:off x="6334125" y="1762125"/>
            <a:ext cx="5286375" cy="4286250"/>
          </a:xfrm>
          <a:prstGeom prst="rect">
            <a:avLst/>
          </a:prstGeom>
          <a:noFill/>
          <a:ln>
            <a:noFill/>
          </a:ln>
        </p:spPr>
      </p:pic>
      <p:sp>
        <p:nvSpPr>
          <p:cNvPr id="322" name="Google Shape;322;p2"/>
          <p:cNvSpPr txBox="1"/>
          <p:nvPr/>
        </p:nvSpPr>
        <p:spPr>
          <a:xfrm>
            <a:off x="571500" y="2062162"/>
            <a:ext cx="5550600"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A8E8"/>
                </a:solidFill>
                <a:latin typeface="Poppins"/>
                <a:ea typeface="Poppins"/>
                <a:cs typeface="Poppins"/>
                <a:sym typeface="Poppins"/>
              </a:rPr>
              <a:t>Temporal Trends in Production</a:t>
            </a:r>
            <a:endParaRPr sz="1400" b="0" i="0" u="none" strike="noStrike" cap="none">
              <a:solidFill>
                <a:srgbClr val="000000"/>
              </a:solidFill>
              <a:latin typeface="Arial"/>
              <a:ea typeface="Arial"/>
              <a:cs typeface="Arial"/>
              <a:sym typeface="Arial"/>
            </a:endParaRPr>
          </a:p>
        </p:txBody>
      </p:sp>
      <p:sp>
        <p:nvSpPr>
          <p:cNvPr id="323" name="Google Shape;323;p2"/>
          <p:cNvSpPr txBox="1"/>
          <p:nvPr/>
        </p:nvSpPr>
        <p:spPr>
          <a:xfrm>
            <a:off x="571500" y="2690812"/>
            <a:ext cx="5286300" cy="257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n-US" sz="1350" b="0" i="0" u="none" strike="noStrike" cap="none">
                <a:solidFill>
                  <a:srgbClr val="CCCCCC"/>
                </a:solidFill>
                <a:latin typeface="Lato"/>
                <a:ea typeface="Lato"/>
                <a:cs typeface="Lato"/>
                <a:sym typeface="Lato"/>
              </a:rPr>
              <a:t>The line chart shows a clear evolution in production volume:</a:t>
            </a:r>
            <a:endParaRPr sz="1400" b="0" i="0" u="none" strike="noStrike" cap="none">
              <a:solidFill>
                <a:srgbClr val="000000"/>
              </a:solidFill>
              <a:latin typeface="Arial"/>
              <a:ea typeface="Arial"/>
              <a:cs typeface="Arial"/>
              <a:sym typeface="Arial"/>
            </a:endParaRPr>
          </a:p>
        </p:txBody>
      </p:sp>
      <p:sp>
        <p:nvSpPr>
          <p:cNvPr id="324" name="Google Shape;324;p2"/>
          <p:cNvSpPr txBox="1"/>
          <p:nvPr/>
        </p:nvSpPr>
        <p:spPr>
          <a:xfrm>
            <a:off x="809625" y="3119437"/>
            <a:ext cx="5048400" cy="514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n-US" sz="1350" b="1" i="0" u="none" strike="noStrike" cap="none">
                <a:solidFill>
                  <a:srgbClr val="CCCCCC"/>
                </a:solidFill>
                <a:latin typeface="Lato"/>
                <a:ea typeface="Lato"/>
                <a:cs typeface="Lato"/>
                <a:sym typeface="Lato"/>
              </a:rPr>
              <a:t>1920-1990 (Slow Growth):</a:t>
            </a:r>
            <a:r>
              <a:rPr lang="en-US" sz="1350" b="0" i="0" u="none" strike="noStrike" cap="none">
                <a:solidFill>
                  <a:srgbClr val="CCCCCC"/>
                </a:solidFill>
                <a:latin typeface="Lato"/>
                <a:ea typeface="Lato"/>
                <a:cs typeface="Lato"/>
                <a:sym typeface="Lato"/>
              </a:rPr>
              <a:t> Stable, low volume of 1-15 releases per year.</a:t>
            </a:r>
            <a:endParaRPr sz="1400" b="0" i="0" u="none" strike="noStrike" cap="none">
              <a:solidFill>
                <a:srgbClr val="000000"/>
              </a:solidFill>
              <a:latin typeface="Arial"/>
              <a:ea typeface="Arial"/>
              <a:cs typeface="Arial"/>
              <a:sym typeface="Arial"/>
            </a:endParaRPr>
          </a:p>
        </p:txBody>
      </p:sp>
      <p:sp>
        <p:nvSpPr>
          <p:cNvPr id="325" name="Google Shape;325;p2"/>
          <p:cNvSpPr txBox="1"/>
          <p:nvPr/>
        </p:nvSpPr>
        <p:spPr>
          <a:xfrm>
            <a:off x="809625" y="3776662"/>
            <a:ext cx="5048400" cy="514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n-US" sz="1350" b="1" i="0" u="none" strike="noStrike" cap="none">
                <a:solidFill>
                  <a:srgbClr val="CCCCCC"/>
                </a:solidFill>
                <a:latin typeface="Lato"/>
                <a:ea typeface="Lato"/>
                <a:cs typeface="Lato"/>
                <a:sym typeface="Lato"/>
              </a:rPr>
              <a:t>Post-1990 (Production Boom):</a:t>
            </a:r>
            <a:r>
              <a:rPr lang="en-US" sz="1350" b="0" i="0" u="none" strike="noStrike" cap="none">
                <a:solidFill>
                  <a:srgbClr val="CCCCCC"/>
                </a:solidFill>
                <a:latin typeface="Lato"/>
                <a:ea typeface="Lato"/>
                <a:cs typeface="Lato"/>
                <a:sym typeface="Lato"/>
              </a:rPr>
              <a:t> A dramatic and sustained increase in releases.</a:t>
            </a:r>
            <a:endParaRPr sz="1400" b="0" i="0" u="none" strike="noStrike" cap="none">
              <a:solidFill>
                <a:srgbClr val="000000"/>
              </a:solidFill>
              <a:latin typeface="Arial"/>
              <a:ea typeface="Arial"/>
              <a:cs typeface="Arial"/>
              <a:sym typeface="Arial"/>
            </a:endParaRPr>
          </a:p>
        </p:txBody>
      </p:sp>
      <p:sp>
        <p:nvSpPr>
          <p:cNvPr id="326" name="Google Shape;326;p2"/>
          <p:cNvSpPr txBox="1"/>
          <p:nvPr/>
        </p:nvSpPr>
        <p:spPr>
          <a:xfrm>
            <a:off x="809625" y="4433887"/>
            <a:ext cx="5048400" cy="514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n-US" sz="1350" b="1" i="0" u="none" strike="noStrike" cap="none">
                <a:solidFill>
                  <a:srgbClr val="CCCCCC"/>
                </a:solidFill>
                <a:latin typeface="Lato"/>
                <a:ea typeface="Lato"/>
                <a:cs typeface="Lato"/>
                <a:sym typeface="Lato"/>
              </a:rPr>
              <a:t>2000-2017 (Peak Production):</a:t>
            </a:r>
            <a:r>
              <a:rPr lang="en-US" sz="1350" b="0" i="0" u="none" strike="noStrike" cap="none">
                <a:solidFill>
                  <a:srgbClr val="CCCCCC"/>
                </a:solidFill>
                <a:latin typeface="Lato"/>
                <a:ea typeface="Lato"/>
                <a:cs typeface="Lato"/>
                <a:sym typeface="Lato"/>
              </a:rPr>
              <a:t> The highest counts and volatility, with peaks in 2004 (31) and 2014 (32).</a:t>
            </a:r>
            <a:endParaRPr sz="1400" b="0" i="0" u="none" strike="noStrike" cap="none">
              <a:solidFill>
                <a:srgbClr val="000000"/>
              </a:solidFill>
              <a:latin typeface="Arial"/>
              <a:ea typeface="Arial"/>
              <a:cs typeface="Arial"/>
              <a:sym typeface="Arial"/>
            </a:endParaRPr>
          </a:p>
        </p:txBody>
      </p:sp>
      <p:sp>
        <p:nvSpPr>
          <p:cNvPr id="327" name="Google Shape;327;p2"/>
          <p:cNvSpPr txBox="1"/>
          <p:nvPr/>
        </p:nvSpPr>
        <p:spPr>
          <a:xfrm>
            <a:off x="809625" y="5091112"/>
            <a:ext cx="5048400" cy="514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n-US" sz="1350" b="1" i="0" u="none" strike="noStrike" cap="none">
                <a:solidFill>
                  <a:srgbClr val="CCCCCC"/>
                </a:solidFill>
                <a:latin typeface="Lato"/>
                <a:ea typeface="Lato"/>
                <a:cs typeface="Lato"/>
                <a:sym typeface="Lato"/>
              </a:rPr>
              <a:t>Post-2018 (Recent Dip):</a:t>
            </a:r>
            <a:r>
              <a:rPr lang="en-US" sz="1350" b="0" i="0" u="none" strike="noStrike" cap="none">
                <a:solidFill>
                  <a:srgbClr val="CCCCCC"/>
                </a:solidFill>
                <a:latin typeface="Lato"/>
                <a:ea typeface="Lato"/>
                <a:cs typeface="Lato"/>
                <a:sym typeface="Lato"/>
              </a:rPr>
              <a:t> A sharp decline, possibly due to data lag or external factors.</a:t>
            </a:r>
            <a:endParaRPr sz="1400" b="0" i="0" u="none" strike="noStrike" cap="none">
              <a:solidFill>
                <a:srgbClr val="000000"/>
              </a:solidFill>
              <a:latin typeface="Arial"/>
              <a:ea typeface="Arial"/>
              <a:cs typeface="Arial"/>
              <a:sym typeface="Arial"/>
            </a:endParaRPr>
          </a:p>
        </p:txBody>
      </p:sp>
      <p:pic>
        <p:nvPicPr>
          <p:cNvPr id="328" name="Google Shape;328;p2"/>
          <p:cNvPicPr preferRelativeResize="0"/>
          <p:nvPr/>
        </p:nvPicPr>
        <p:blipFill rotWithShape="1">
          <a:blip r:embed="rId5"/>
          <a:srcRect/>
          <a:stretch/>
        </p:blipFill>
        <p:spPr>
          <a:xfrm>
            <a:off x="6343650" y="2426703"/>
            <a:ext cx="5267325" cy="2957094"/>
          </a:xfrm>
          <a:prstGeom prst="rect">
            <a:avLst/>
          </a:prstGeom>
          <a:noFill/>
          <a:ln>
            <a:noFill/>
          </a:ln>
        </p:spPr>
      </p:pic>
      <p:sp>
        <p:nvSpPr>
          <p:cNvPr id="329" name="Google Shape;329;p2"/>
          <p:cNvSpPr txBox="1"/>
          <p:nvPr/>
        </p:nvSpPr>
        <p:spPr>
          <a:xfrm>
            <a:off x="571500" y="3119437"/>
            <a:ext cx="114300" cy="2097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500"/>
              <a:buFont typeface="Arial"/>
              <a:buNone/>
            </a:pPr>
            <a:r>
              <a:rPr lang="en-US" sz="1500" b="0" i="0" u="none" strike="noStrike" cap="none">
                <a:solidFill>
                  <a:srgbClr val="E50914"/>
                </a:solidFill>
                <a:latin typeface="Lato"/>
                <a:ea typeface="Lato"/>
                <a:cs typeface="Lato"/>
                <a:sym typeface="Lato"/>
              </a:rPr>
              <a:t>•</a:t>
            </a:r>
            <a:endParaRPr sz="1400" b="0" i="0" u="none" strike="noStrike" cap="none">
              <a:solidFill>
                <a:srgbClr val="000000"/>
              </a:solidFill>
              <a:latin typeface="Arial"/>
              <a:ea typeface="Arial"/>
              <a:cs typeface="Arial"/>
              <a:sym typeface="Arial"/>
            </a:endParaRPr>
          </a:p>
        </p:txBody>
      </p:sp>
      <p:sp>
        <p:nvSpPr>
          <p:cNvPr id="330" name="Google Shape;330;p2"/>
          <p:cNvSpPr txBox="1"/>
          <p:nvPr/>
        </p:nvSpPr>
        <p:spPr>
          <a:xfrm>
            <a:off x="571500" y="3776662"/>
            <a:ext cx="114300" cy="2097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500"/>
              <a:buFont typeface="Arial"/>
              <a:buNone/>
            </a:pPr>
            <a:r>
              <a:rPr lang="en-US" sz="1500" b="0" i="0" u="none" strike="noStrike" cap="none">
                <a:solidFill>
                  <a:srgbClr val="E50914"/>
                </a:solidFill>
                <a:latin typeface="Lato"/>
                <a:ea typeface="Lato"/>
                <a:cs typeface="Lato"/>
                <a:sym typeface="Lato"/>
              </a:rPr>
              <a:t>•</a:t>
            </a:r>
            <a:endParaRPr sz="1400" b="0" i="0" u="none" strike="noStrike" cap="none">
              <a:solidFill>
                <a:srgbClr val="000000"/>
              </a:solidFill>
              <a:latin typeface="Arial"/>
              <a:ea typeface="Arial"/>
              <a:cs typeface="Arial"/>
              <a:sym typeface="Arial"/>
            </a:endParaRPr>
          </a:p>
        </p:txBody>
      </p:sp>
      <p:sp>
        <p:nvSpPr>
          <p:cNvPr id="331" name="Google Shape;331;p2"/>
          <p:cNvSpPr txBox="1"/>
          <p:nvPr/>
        </p:nvSpPr>
        <p:spPr>
          <a:xfrm>
            <a:off x="571500" y="4433887"/>
            <a:ext cx="114300" cy="2097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500"/>
              <a:buFont typeface="Arial"/>
              <a:buNone/>
            </a:pPr>
            <a:r>
              <a:rPr lang="en-US" sz="1500" b="0" i="0" u="none" strike="noStrike" cap="none">
                <a:solidFill>
                  <a:srgbClr val="E50914"/>
                </a:solidFill>
                <a:latin typeface="Lato"/>
                <a:ea typeface="Lato"/>
                <a:cs typeface="Lato"/>
                <a:sym typeface="Lato"/>
              </a:rPr>
              <a:t>•</a:t>
            </a:r>
            <a:endParaRPr sz="1400" b="0" i="0" u="none" strike="noStrike" cap="none">
              <a:solidFill>
                <a:srgbClr val="000000"/>
              </a:solidFill>
              <a:latin typeface="Arial"/>
              <a:ea typeface="Arial"/>
              <a:cs typeface="Arial"/>
              <a:sym typeface="Arial"/>
            </a:endParaRPr>
          </a:p>
        </p:txBody>
      </p:sp>
      <p:sp>
        <p:nvSpPr>
          <p:cNvPr id="332" name="Google Shape;332;p2"/>
          <p:cNvSpPr txBox="1"/>
          <p:nvPr/>
        </p:nvSpPr>
        <p:spPr>
          <a:xfrm>
            <a:off x="571500" y="5091112"/>
            <a:ext cx="114300" cy="2097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500"/>
              <a:buFont typeface="Arial"/>
              <a:buNone/>
            </a:pPr>
            <a:r>
              <a:rPr lang="en-US" sz="1500" b="0" i="0" u="none" strike="noStrike" cap="none">
                <a:solidFill>
                  <a:srgbClr val="E50914"/>
                </a:solidFill>
                <a:latin typeface="Lato"/>
                <a:ea typeface="Lato"/>
                <a:cs typeface="Lato"/>
                <a:sym typeface="Lato"/>
              </a:rPr>
              <a:t>•</a:t>
            </a:r>
            <a:endParaRPr sz="1400" b="0" i="0" u="none" strike="noStrike" cap="none">
              <a:solidFill>
                <a:srgbClr val="000000"/>
              </a:solidFill>
              <a:latin typeface="Arial"/>
              <a:ea typeface="Arial"/>
              <a:cs typeface="Arial"/>
              <a:sym typeface="Arial"/>
            </a:endParaRPr>
          </a:p>
        </p:txBody>
      </p:sp>
      <p:sp>
        <p:nvSpPr>
          <p:cNvPr id="333" name="Google Shape;333;p2"/>
          <p:cNvSpPr txBox="1"/>
          <p:nvPr/>
        </p:nvSpPr>
        <p:spPr>
          <a:xfrm>
            <a:off x="571500" y="571500"/>
            <a:ext cx="11601600" cy="571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E50914"/>
                </a:solidFill>
                <a:latin typeface="Poppins"/>
                <a:ea typeface="Poppins"/>
                <a:cs typeface="Poppins"/>
                <a:sym typeface="Poppins"/>
              </a:rPr>
              <a:t>Insights from Excel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334"/>
        <p:cNvGrpSpPr/>
        <p:nvPr/>
      </p:nvGrpSpPr>
      <p:grpSpPr>
        <a:xfrm>
          <a:off x="0" y="0"/>
          <a:ext cx="0" cy="0"/>
          <a:chOff x="0" y="0"/>
          <a:chExt cx="0" cy="0"/>
        </a:xfrm>
      </p:grpSpPr>
      <p:pic>
        <p:nvPicPr>
          <p:cNvPr id="335" name="Google Shape;335;p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6" name="Google Shape;336;p3" descr="image.png"/>
          <p:cNvPicPr preferRelativeResize="0"/>
          <p:nvPr/>
        </p:nvPicPr>
        <p:blipFill rotWithShape="1">
          <a:blip r:embed="rId4">
            <a:alphaModFix/>
          </a:blip>
          <a:srcRect/>
          <a:stretch/>
        </p:blipFill>
        <p:spPr>
          <a:xfrm>
            <a:off x="571500" y="2200275"/>
            <a:ext cx="3429000" cy="2381250"/>
          </a:xfrm>
          <a:prstGeom prst="rect">
            <a:avLst/>
          </a:prstGeom>
          <a:noFill/>
          <a:ln>
            <a:noFill/>
          </a:ln>
        </p:spPr>
      </p:pic>
      <p:pic>
        <p:nvPicPr>
          <p:cNvPr id="337" name="Google Shape;337;p3" descr="image.png"/>
          <p:cNvPicPr preferRelativeResize="0"/>
          <p:nvPr/>
        </p:nvPicPr>
        <p:blipFill rotWithShape="1">
          <a:blip r:embed="rId5">
            <a:alphaModFix/>
          </a:blip>
          <a:srcRect/>
          <a:stretch/>
        </p:blipFill>
        <p:spPr>
          <a:xfrm>
            <a:off x="4381500" y="2200275"/>
            <a:ext cx="3429000" cy="2381250"/>
          </a:xfrm>
          <a:prstGeom prst="rect">
            <a:avLst/>
          </a:prstGeom>
          <a:noFill/>
          <a:ln>
            <a:noFill/>
          </a:ln>
        </p:spPr>
      </p:pic>
      <p:pic>
        <p:nvPicPr>
          <p:cNvPr id="338" name="Google Shape;338;p3" descr="image.png"/>
          <p:cNvPicPr preferRelativeResize="0"/>
          <p:nvPr/>
        </p:nvPicPr>
        <p:blipFill rotWithShape="1">
          <a:blip r:embed="rId5">
            <a:alphaModFix/>
          </a:blip>
          <a:srcRect/>
          <a:stretch/>
        </p:blipFill>
        <p:spPr>
          <a:xfrm>
            <a:off x="8191500" y="2200275"/>
            <a:ext cx="3429000" cy="2381250"/>
          </a:xfrm>
          <a:prstGeom prst="rect">
            <a:avLst/>
          </a:prstGeom>
          <a:noFill/>
          <a:ln>
            <a:noFill/>
          </a:ln>
        </p:spPr>
      </p:pic>
      <p:sp>
        <p:nvSpPr>
          <p:cNvPr id="339" name="Google Shape;339;p3"/>
          <p:cNvSpPr txBox="1"/>
          <p:nvPr/>
        </p:nvSpPr>
        <p:spPr>
          <a:xfrm>
            <a:off x="571500" y="4772025"/>
            <a:ext cx="3429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1200"/>
              <a:buFont typeface="Arial"/>
              <a:buNone/>
            </a:pPr>
            <a:r>
              <a:rPr lang="en-US" sz="1200" b="1" i="1" u="none" strike="noStrike" cap="none">
                <a:solidFill>
                  <a:srgbClr val="AAAAAA"/>
                </a:solidFill>
                <a:latin typeface="Lato"/>
                <a:ea typeface="Lato"/>
                <a:cs typeface="Lato"/>
                <a:sym typeface="Lato"/>
              </a:rPr>
              <a:t>Scatter Plot:</a:t>
            </a:r>
            <a:r>
              <a:rPr lang="en-US" sz="1200" b="0" i="1" u="none" strike="noStrike" cap="none">
                <a:solidFill>
                  <a:srgbClr val="AAAAAA"/>
                </a:solidFill>
                <a:latin typeface="Lato"/>
                <a:ea typeface="Lato"/>
                <a:cs typeface="Lato"/>
                <a:sym typeface="Lato"/>
              </a:rPr>
              <a:t> IMDb rating is not a primary predictor of Gross Revenue. Commercial success is decoupled from critical acclaim.</a:t>
            </a:r>
            <a:endParaRPr sz="1400" b="0" i="0" u="none" strike="noStrike" cap="none">
              <a:solidFill>
                <a:srgbClr val="000000"/>
              </a:solidFill>
              <a:latin typeface="Arial"/>
              <a:ea typeface="Arial"/>
              <a:cs typeface="Arial"/>
              <a:sym typeface="Arial"/>
            </a:endParaRPr>
          </a:p>
        </p:txBody>
      </p:sp>
      <p:sp>
        <p:nvSpPr>
          <p:cNvPr id="340" name="Google Shape;340;p3"/>
          <p:cNvSpPr txBox="1"/>
          <p:nvPr/>
        </p:nvSpPr>
        <p:spPr>
          <a:xfrm>
            <a:off x="4381500" y="4772025"/>
            <a:ext cx="3429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1200"/>
              <a:buFont typeface="Arial"/>
              <a:buNone/>
            </a:pPr>
            <a:r>
              <a:rPr lang="en-US" sz="1200" b="1" i="1" u="none" strike="noStrike" cap="none">
                <a:solidFill>
                  <a:srgbClr val="AAAAAA"/>
                </a:solidFill>
                <a:latin typeface="Lato"/>
                <a:ea typeface="Lato"/>
                <a:cs typeface="Lato"/>
                <a:sym typeface="Lato"/>
              </a:rPr>
              <a:t>Bar Plot:</a:t>
            </a:r>
            <a:r>
              <a:rPr lang="en-US" sz="1200" b="0" i="1" u="none" strike="noStrike" cap="none">
                <a:solidFill>
                  <a:srgbClr val="AAAAAA"/>
                </a:solidFill>
                <a:latin typeface="Lato"/>
                <a:ea typeface="Lato"/>
                <a:cs typeface="Lato"/>
                <a:sym typeface="Lato"/>
              </a:rPr>
              <a:t> Mature content (e.g., 'TV-14', '16', 'TV-MA') achieves higher average IMDb ratings than general audience films.</a:t>
            </a:r>
            <a:endParaRPr sz="1400" b="0" i="0" u="none" strike="noStrike" cap="none">
              <a:solidFill>
                <a:srgbClr val="000000"/>
              </a:solidFill>
              <a:latin typeface="Arial"/>
              <a:ea typeface="Arial"/>
              <a:cs typeface="Arial"/>
              <a:sym typeface="Arial"/>
            </a:endParaRPr>
          </a:p>
        </p:txBody>
      </p:sp>
      <p:sp>
        <p:nvSpPr>
          <p:cNvPr id="341" name="Google Shape;341;p3"/>
          <p:cNvSpPr txBox="1"/>
          <p:nvPr/>
        </p:nvSpPr>
        <p:spPr>
          <a:xfrm>
            <a:off x="8191500" y="4772025"/>
            <a:ext cx="3429000"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1200"/>
              <a:buFont typeface="Arial"/>
              <a:buNone/>
            </a:pPr>
            <a:r>
              <a:rPr lang="en-US" sz="1200" b="1" i="1" u="none" strike="noStrike" cap="none">
                <a:solidFill>
                  <a:srgbClr val="AAAAAA"/>
                </a:solidFill>
                <a:latin typeface="Lato"/>
                <a:ea typeface="Lato"/>
                <a:cs typeface="Lato"/>
                <a:sym typeface="Lato"/>
              </a:rPr>
              <a:t>Heatmap:</a:t>
            </a:r>
            <a:r>
              <a:rPr lang="en-US" sz="1200" b="0" i="1" u="none" strike="noStrike" cap="none">
                <a:solidFill>
                  <a:srgbClr val="AAAAAA"/>
                </a:solidFill>
                <a:latin typeface="Lato"/>
                <a:ea typeface="Lato"/>
                <a:cs typeface="Lato"/>
                <a:sym typeface="Lato"/>
              </a:rPr>
              <a:t> The strongest positive correlation (0.60) is between </a:t>
            </a:r>
            <a:r>
              <a:rPr lang="en-US" sz="1200" b="1" i="1" u="none" strike="noStrike" cap="none">
                <a:solidFill>
                  <a:srgbClr val="AAAAAA"/>
                </a:solidFill>
                <a:latin typeface="Lato"/>
                <a:ea typeface="Lato"/>
                <a:cs typeface="Lato"/>
                <a:sym typeface="Lato"/>
              </a:rPr>
              <a:t>No_of_Votes</a:t>
            </a:r>
            <a:r>
              <a:rPr lang="en-US" sz="1200" b="0" i="1" u="none" strike="noStrike" cap="none">
                <a:solidFill>
                  <a:srgbClr val="AAAAAA"/>
                </a:solidFill>
                <a:latin typeface="Lato"/>
                <a:ea typeface="Lato"/>
                <a:cs typeface="Lato"/>
                <a:sym typeface="Lato"/>
              </a:rPr>
              <a:t> and </a:t>
            </a:r>
            <a:r>
              <a:rPr lang="en-US" sz="1200" b="1" i="1" u="none" strike="noStrike" cap="none">
                <a:solidFill>
                  <a:srgbClr val="AAAAAA"/>
                </a:solidFill>
                <a:latin typeface="Lato"/>
                <a:ea typeface="Lato"/>
                <a:cs typeface="Lato"/>
                <a:sym typeface="Lato"/>
              </a:rPr>
              <a:t>Gross Revenue</a:t>
            </a:r>
            <a:r>
              <a:rPr lang="en-US" sz="1200" b="0" i="1" u="none" strike="noStrike" cap="none">
                <a:solidFill>
                  <a:srgbClr val="AAAAAA"/>
                </a:solidFill>
                <a:latin typeface="Lato"/>
                <a:ea typeface="Lato"/>
                <a:cs typeface="Lato"/>
                <a:sym typeface="Lato"/>
              </a:rPr>
              <a:t>.</a:t>
            </a:r>
            <a:endParaRPr sz="1400" b="0" i="0" u="none" strike="noStrike" cap="none">
              <a:solidFill>
                <a:srgbClr val="000000"/>
              </a:solidFill>
              <a:latin typeface="Arial"/>
              <a:ea typeface="Arial"/>
              <a:cs typeface="Arial"/>
              <a:sym typeface="Arial"/>
            </a:endParaRPr>
          </a:p>
        </p:txBody>
      </p:sp>
      <p:pic>
        <p:nvPicPr>
          <p:cNvPr id="342" name="Google Shape;342;p3" descr="A screen shot of a graph&#10;&#10;AI-generated content may be incorrect."/>
          <p:cNvPicPr preferRelativeResize="0"/>
          <p:nvPr/>
        </p:nvPicPr>
        <p:blipFill rotWithShape="1">
          <a:blip r:embed="rId6"/>
          <a:srcRect/>
          <a:stretch/>
        </p:blipFill>
        <p:spPr>
          <a:xfrm>
            <a:off x="634738" y="2209800"/>
            <a:ext cx="3302524" cy="2362200"/>
          </a:xfrm>
          <a:prstGeom prst="rect">
            <a:avLst/>
          </a:prstGeom>
          <a:noFill/>
          <a:ln>
            <a:noFill/>
          </a:ln>
        </p:spPr>
      </p:pic>
      <p:pic>
        <p:nvPicPr>
          <p:cNvPr id="343" name="Google Shape;343;p3" descr="A screen shot of a graph&#10;&#10;AI-generated content may be incorrect."/>
          <p:cNvPicPr preferRelativeResize="0"/>
          <p:nvPr/>
        </p:nvPicPr>
        <p:blipFill rotWithShape="1">
          <a:blip r:embed="rId7"/>
          <a:srcRect/>
          <a:stretch/>
        </p:blipFill>
        <p:spPr>
          <a:xfrm>
            <a:off x="4437189" y="2209800"/>
            <a:ext cx="3317622" cy="2362200"/>
          </a:xfrm>
          <a:prstGeom prst="rect">
            <a:avLst/>
          </a:prstGeom>
          <a:noFill/>
          <a:ln>
            <a:noFill/>
          </a:ln>
        </p:spPr>
      </p:pic>
      <p:pic>
        <p:nvPicPr>
          <p:cNvPr id="344" name="Google Shape;344;p3" descr="A screenshot of a computer screen&#10;&#10;AI-generated content may be incorrect."/>
          <p:cNvPicPr preferRelativeResize="0"/>
          <p:nvPr/>
        </p:nvPicPr>
        <p:blipFill rotWithShape="1">
          <a:blip r:embed="rId8"/>
          <a:srcRect/>
          <a:stretch/>
        </p:blipFill>
        <p:spPr>
          <a:xfrm>
            <a:off x="8240219" y="2209800"/>
            <a:ext cx="3331562" cy="2362200"/>
          </a:xfrm>
          <a:prstGeom prst="rect">
            <a:avLst/>
          </a:prstGeom>
          <a:noFill/>
          <a:ln>
            <a:noFill/>
          </a:ln>
        </p:spPr>
      </p:pic>
      <p:sp>
        <p:nvSpPr>
          <p:cNvPr id="345" name="Google Shape;345;p3"/>
          <p:cNvSpPr txBox="1"/>
          <p:nvPr/>
        </p:nvSpPr>
        <p:spPr>
          <a:xfrm>
            <a:off x="571500" y="571500"/>
            <a:ext cx="11601600" cy="571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E50914"/>
                </a:solidFill>
                <a:latin typeface="Poppins"/>
                <a:ea typeface="Poppins"/>
                <a:cs typeface="Poppins"/>
                <a:sym typeface="Poppins"/>
              </a:rPr>
              <a:t>Insights from Python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219"/>
        <p:cNvGrpSpPr/>
        <p:nvPr/>
      </p:nvGrpSpPr>
      <p:grpSpPr>
        <a:xfrm>
          <a:off x="0" y="0"/>
          <a:ext cx="0" cy="0"/>
          <a:chOff x="0" y="0"/>
          <a:chExt cx="0" cy="0"/>
        </a:xfrm>
      </p:grpSpPr>
      <p:pic>
        <p:nvPicPr>
          <p:cNvPr id="220" name="Google Shape;220;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1" name="Google Shape;221;p20" descr="image.png"/>
          <p:cNvPicPr preferRelativeResize="0"/>
          <p:nvPr/>
        </p:nvPicPr>
        <p:blipFill rotWithShape="1">
          <a:blip r:embed="rId4">
            <a:alphaModFix/>
          </a:blip>
          <a:srcRect/>
          <a:stretch/>
        </p:blipFill>
        <p:spPr>
          <a:xfrm>
            <a:off x="571500" y="2200275"/>
            <a:ext cx="3429000" cy="2381250"/>
          </a:xfrm>
          <a:prstGeom prst="rect">
            <a:avLst/>
          </a:prstGeom>
          <a:noFill/>
          <a:ln>
            <a:noFill/>
          </a:ln>
        </p:spPr>
      </p:pic>
      <p:pic>
        <p:nvPicPr>
          <p:cNvPr id="222" name="Google Shape;222;p20" descr="image.png"/>
          <p:cNvPicPr preferRelativeResize="0"/>
          <p:nvPr/>
        </p:nvPicPr>
        <p:blipFill rotWithShape="1">
          <a:blip r:embed="rId5">
            <a:alphaModFix/>
          </a:blip>
          <a:srcRect/>
          <a:stretch/>
        </p:blipFill>
        <p:spPr>
          <a:xfrm>
            <a:off x="4381500" y="2200275"/>
            <a:ext cx="3429000" cy="2381250"/>
          </a:xfrm>
          <a:prstGeom prst="rect">
            <a:avLst/>
          </a:prstGeom>
          <a:noFill/>
          <a:ln>
            <a:noFill/>
          </a:ln>
        </p:spPr>
      </p:pic>
      <p:pic>
        <p:nvPicPr>
          <p:cNvPr id="223" name="Google Shape;223;p20" descr="image.png"/>
          <p:cNvPicPr preferRelativeResize="0"/>
          <p:nvPr/>
        </p:nvPicPr>
        <p:blipFill rotWithShape="1">
          <a:blip r:embed="rId5">
            <a:alphaModFix/>
          </a:blip>
          <a:srcRect/>
          <a:stretch/>
        </p:blipFill>
        <p:spPr>
          <a:xfrm>
            <a:off x="8191500" y="2200275"/>
            <a:ext cx="3429000" cy="2381250"/>
          </a:xfrm>
          <a:prstGeom prst="rect">
            <a:avLst/>
          </a:prstGeom>
          <a:noFill/>
          <a:ln>
            <a:noFill/>
          </a:ln>
        </p:spPr>
      </p:pic>
      <p:sp>
        <p:nvSpPr>
          <p:cNvPr id="224" name="Google Shape;224;p20"/>
          <p:cNvSpPr txBox="1"/>
          <p:nvPr/>
        </p:nvSpPr>
        <p:spPr>
          <a:xfrm>
            <a:off x="571500" y="4772025"/>
            <a:ext cx="3429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1" i="1" u="none" strike="noStrike" cap="none">
                <a:solidFill>
                  <a:srgbClr val="AAAAAA"/>
                </a:solidFill>
                <a:latin typeface="Lato"/>
                <a:ea typeface="Lato"/>
                <a:cs typeface="Lato"/>
                <a:sym typeface="Lato"/>
              </a:rPr>
              <a:t>KPI Cards:</a:t>
            </a:r>
            <a:r>
              <a:rPr lang="en-US" sz="1200" b="0" i="1" u="none" strike="noStrike" cap="none">
                <a:solidFill>
                  <a:srgbClr val="AAAAAA"/>
                </a:solidFill>
                <a:latin typeface="Lato"/>
                <a:ea typeface="Lato"/>
                <a:cs typeface="Lato"/>
                <a:sym typeface="Lato"/>
              </a:rPr>
              <a:t> Confirmed a robust, high-quality dataset of 999 movies with an </a:t>
            </a:r>
            <a:r>
              <a:rPr lang="en-US" sz="1200" b="1" i="1" u="none" strike="noStrike" cap="none">
                <a:solidFill>
                  <a:srgbClr val="AAAAAA"/>
                </a:solidFill>
                <a:latin typeface="Lato"/>
                <a:ea typeface="Lato"/>
                <a:cs typeface="Lato"/>
                <a:sym typeface="Lato"/>
              </a:rPr>
              <a:t>8.11 Weighted Avg Rating</a:t>
            </a:r>
            <a:r>
              <a:rPr lang="en-US" sz="1200" b="0" i="1" u="none" strike="noStrike" cap="none">
                <a:solidFill>
                  <a:srgbClr val="AAAAAA"/>
                </a:solidFill>
                <a:latin typeface="Lato"/>
                <a:ea typeface="Lato"/>
                <a:cs typeface="Lato"/>
                <a:sym typeface="Lato"/>
              </a:rPr>
              <a:t> and </a:t>
            </a:r>
            <a:r>
              <a:rPr lang="en-US" sz="1200" b="1" i="1" u="none" strike="noStrike" cap="none">
                <a:solidFill>
                  <a:srgbClr val="AAAAAA"/>
                </a:solidFill>
                <a:latin typeface="Lato"/>
                <a:ea typeface="Lato"/>
                <a:cs typeface="Lato"/>
                <a:sym typeface="Lato"/>
              </a:rPr>
              <a:t>$225.45B Total Gross</a:t>
            </a:r>
            <a:r>
              <a:rPr lang="en-US" sz="1200" b="0" i="1" u="none" strike="noStrike" cap="none">
                <a:solidFill>
                  <a:srgbClr val="AAAAAA"/>
                </a:solidFill>
                <a:latin typeface="Lato"/>
                <a:ea typeface="Lato"/>
                <a:cs typeface="Lato"/>
                <a:sym typeface="Lato"/>
              </a:rPr>
              <a:t>.</a:t>
            </a:r>
            <a:endParaRPr/>
          </a:p>
        </p:txBody>
      </p:sp>
      <p:sp>
        <p:nvSpPr>
          <p:cNvPr id="225" name="Google Shape;225;p20"/>
          <p:cNvSpPr txBox="1"/>
          <p:nvPr/>
        </p:nvSpPr>
        <p:spPr>
          <a:xfrm>
            <a:off x="4381500" y="4772025"/>
            <a:ext cx="3429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1" i="1" u="none" strike="noStrike" cap="none">
                <a:solidFill>
                  <a:srgbClr val="AAAAAA"/>
                </a:solidFill>
                <a:latin typeface="Lato"/>
                <a:ea typeface="Lato"/>
                <a:cs typeface="Lato"/>
                <a:sym typeface="Lato"/>
              </a:rPr>
              <a:t>Genre Chart:</a:t>
            </a:r>
            <a:r>
              <a:rPr lang="en-US" sz="1200" b="0" i="1" u="none" strike="noStrike" cap="none">
                <a:solidFill>
                  <a:srgbClr val="AAAAAA"/>
                </a:solidFill>
                <a:latin typeface="Lato"/>
                <a:ea typeface="Lato"/>
                <a:cs typeface="Lato"/>
                <a:sym typeface="Lato"/>
              </a:rPr>
              <a:t> Revenue is highly concentrated. The </a:t>
            </a:r>
            <a:r>
              <a:rPr lang="en-US" sz="1200" b="1" i="1" u="none" strike="noStrike" cap="none">
                <a:solidFill>
                  <a:srgbClr val="AAAAAA"/>
                </a:solidFill>
                <a:latin typeface="Lato"/>
                <a:ea typeface="Lato"/>
                <a:cs typeface="Lato"/>
                <a:sym typeface="Lato"/>
              </a:rPr>
              <a:t>Action &amp; Adventure</a:t>
            </a:r>
            <a:r>
              <a:rPr lang="en-US" sz="1200" b="0" i="1" u="none" strike="noStrike" cap="none">
                <a:solidFill>
                  <a:srgbClr val="AAAAAA"/>
                </a:solidFill>
                <a:latin typeface="Lato"/>
                <a:ea typeface="Lato"/>
                <a:cs typeface="Lato"/>
                <a:sym typeface="Lato"/>
              </a:rPr>
              <a:t> genre combination is the undisputed market leader.</a:t>
            </a:r>
            <a:endParaRPr/>
          </a:p>
        </p:txBody>
      </p:sp>
      <p:sp>
        <p:nvSpPr>
          <p:cNvPr id="226" name="Google Shape;226;p20"/>
          <p:cNvSpPr txBox="1"/>
          <p:nvPr/>
        </p:nvSpPr>
        <p:spPr>
          <a:xfrm>
            <a:off x="8191500" y="4772025"/>
            <a:ext cx="3429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1" i="1" u="none" strike="noStrike" cap="none">
                <a:solidFill>
                  <a:srgbClr val="AAAAAA"/>
                </a:solidFill>
                <a:latin typeface="Lato"/>
                <a:ea typeface="Lato"/>
                <a:cs typeface="Lato"/>
                <a:sym typeface="Lato"/>
              </a:rPr>
              <a:t>Scatter Plot:</a:t>
            </a:r>
            <a:r>
              <a:rPr lang="en-US" sz="1200" b="0" i="1" u="none" strike="noStrike" cap="none">
                <a:solidFill>
                  <a:srgbClr val="AAAAAA"/>
                </a:solidFill>
                <a:latin typeface="Lato"/>
                <a:ea typeface="Lato"/>
                <a:cs typeface="Lato"/>
                <a:sym typeface="Lato"/>
              </a:rPr>
              <a:t> Commercial success is maximized when high audience engagement (bubble size) intersects with high financial return.</a:t>
            </a:r>
            <a:endParaRPr/>
          </a:p>
        </p:txBody>
      </p:sp>
      <p:pic>
        <p:nvPicPr>
          <p:cNvPr id="227" name="Google Shape;227;p20" descr="A close-up of a number&#10;&#10;AI-generated content may be incorrect."/>
          <p:cNvPicPr preferRelativeResize="0"/>
          <p:nvPr/>
        </p:nvPicPr>
        <p:blipFill rotWithShape="1">
          <a:blip r:embed="rId6"/>
          <a:srcRect/>
          <a:stretch/>
        </p:blipFill>
        <p:spPr>
          <a:xfrm>
            <a:off x="581025" y="3063414"/>
            <a:ext cx="3409950" cy="654972"/>
          </a:xfrm>
          <a:prstGeom prst="rect">
            <a:avLst/>
          </a:prstGeom>
          <a:noFill/>
          <a:ln>
            <a:noFill/>
          </a:ln>
        </p:spPr>
      </p:pic>
      <p:pic>
        <p:nvPicPr>
          <p:cNvPr id="228" name="Google Shape;228;p20" descr="A graph showing a blue line&#10;&#10;AI-generated content may be incorrect."/>
          <p:cNvPicPr preferRelativeResize="0"/>
          <p:nvPr/>
        </p:nvPicPr>
        <p:blipFill rotWithShape="1">
          <a:blip r:embed="rId7"/>
          <a:srcRect/>
          <a:stretch/>
        </p:blipFill>
        <p:spPr>
          <a:xfrm>
            <a:off x="4436768" y="2209800"/>
            <a:ext cx="3318463" cy="2362200"/>
          </a:xfrm>
          <a:prstGeom prst="rect">
            <a:avLst/>
          </a:prstGeom>
          <a:noFill/>
          <a:ln>
            <a:noFill/>
          </a:ln>
        </p:spPr>
      </p:pic>
      <p:pic>
        <p:nvPicPr>
          <p:cNvPr id="229" name="Google Shape;229;p20" descr="A graph with colorful dots&#10;&#10;AI-generated content may be incorrect."/>
          <p:cNvPicPr preferRelativeResize="0"/>
          <p:nvPr/>
        </p:nvPicPr>
        <p:blipFill rotWithShape="1">
          <a:blip r:embed="rId8"/>
          <a:srcRect/>
          <a:stretch/>
        </p:blipFill>
        <p:spPr>
          <a:xfrm>
            <a:off x="8201025" y="2850781"/>
            <a:ext cx="3409950" cy="1080237"/>
          </a:xfrm>
          <a:prstGeom prst="rect">
            <a:avLst/>
          </a:prstGeom>
          <a:noFill/>
          <a:ln>
            <a:noFill/>
          </a:ln>
        </p:spPr>
      </p:pic>
      <p:sp>
        <p:nvSpPr>
          <p:cNvPr id="230" name="Google Shape;230;p2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E50914"/>
                </a:solidFill>
                <a:latin typeface="Poppins"/>
                <a:ea typeface="Poppins"/>
                <a:cs typeface="Poppins"/>
                <a:sym typeface="Poppins"/>
              </a:rPr>
              <a:t>Insights from Power BI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234"/>
        <p:cNvGrpSpPr/>
        <p:nvPr/>
      </p:nvGrpSpPr>
      <p:grpSpPr>
        <a:xfrm>
          <a:off x="0" y="0"/>
          <a:ext cx="0" cy="0"/>
          <a:chOff x="0" y="0"/>
          <a:chExt cx="0" cy="0"/>
        </a:xfrm>
      </p:grpSpPr>
      <p:pic>
        <p:nvPicPr>
          <p:cNvPr id="235" name="Google Shape;23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6" name="Google Shape;236;p21" descr="image.png"/>
          <p:cNvPicPr preferRelativeResize="0"/>
          <p:nvPr/>
        </p:nvPicPr>
        <p:blipFill rotWithShape="1">
          <a:blip r:embed="rId4">
            <a:alphaModFix/>
          </a:blip>
          <a:srcRect/>
          <a:stretch/>
        </p:blipFill>
        <p:spPr>
          <a:xfrm>
            <a:off x="571500" y="1638300"/>
            <a:ext cx="3429000" cy="4533900"/>
          </a:xfrm>
          <a:prstGeom prst="rect">
            <a:avLst/>
          </a:prstGeom>
          <a:noFill/>
          <a:ln>
            <a:noFill/>
          </a:ln>
        </p:spPr>
      </p:pic>
      <p:pic>
        <p:nvPicPr>
          <p:cNvPr id="237" name="Google Shape;237;p21" descr="image.png"/>
          <p:cNvPicPr preferRelativeResize="0"/>
          <p:nvPr/>
        </p:nvPicPr>
        <p:blipFill rotWithShape="1">
          <a:blip r:embed="rId5">
            <a:alphaModFix/>
          </a:blip>
          <a:srcRect/>
          <a:stretch/>
        </p:blipFill>
        <p:spPr>
          <a:xfrm>
            <a:off x="4381500" y="1638300"/>
            <a:ext cx="3429000" cy="4533900"/>
          </a:xfrm>
          <a:prstGeom prst="rect">
            <a:avLst/>
          </a:prstGeom>
          <a:noFill/>
          <a:ln>
            <a:noFill/>
          </a:ln>
        </p:spPr>
      </p:pic>
      <p:pic>
        <p:nvPicPr>
          <p:cNvPr id="238" name="Google Shape;238;p21" descr="image.png"/>
          <p:cNvPicPr preferRelativeResize="0"/>
          <p:nvPr/>
        </p:nvPicPr>
        <p:blipFill rotWithShape="1">
          <a:blip r:embed="rId5">
            <a:alphaModFix/>
          </a:blip>
          <a:srcRect/>
          <a:stretch/>
        </p:blipFill>
        <p:spPr>
          <a:xfrm>
            <a:off x="8191500" y="1638300"/>
            <a:ext cx="3429000" cy="4533900"/>
          </a:xfrm>
          <a:prstGeom prst="rect">
            <a:avLst/>
          </a:prstGeom>
          <a:noFill/>
          <a:ln>
            <a:noFill/>
          </a:ln>
        </p:spPr>
      </p:pic>
      <p:sp>
        <p:nvSpPr>
          <p:cNvPr id="239" name="Google Shape;239;p21"/>
          <p:cNvSpPr txBox="1"/>
          <p:nvPr/>
        </p:nvSpPr>
        <p:spPr>
          <a:xfrm>
            <a:off x="795813" y="2647950"/>
            <a:ext cx="2980372" cy="800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A8E8"/>
                </a:solidFill>
                <a:latin typeface="Poppins"/>
                <a:ea typeface="Poppins"/>
                <a:cs typeface="Poppins"/>
                <a:sym typeface="Poppins"/>
              </a:rPr>
              <a:t>1. Success is Volume-Driven</a:t>
            </a:r>
            <a:endParaRPr/>
          </a:p>
        </p:txBody>
      </p:sp>
      <p:sp>
        <p:nvSpPr>
          <p:cNvPr id="240" name="Google Shape;240;p21"/>
          <p:cNvSpPr txBox="1"/>
          <p:nvPr/>
        </p:nvSpPr>
        <p:spPr>
          <a:xfrm>
            <a:off x="4605813" y="2647950"/>
            <a:ext cx="2980372" cy="1200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A8E8"/>
                </a:solidFill>
                <a:latin typeface="Poppins"/>
                <a:ea typeface="Poppins"/>
                <a:cs typeface="Poppins"/>
                <a:sym typeface="Poppins"/>
              </a:rPr>
              <a:t>2. Market Dominance of Action</a:t>
            </a:r>
            <a:endParaRPr/>
          </a:p>
        </p:txBody>
      </p:sp>
      <p:sp>
        <p:nvSpPr>
          <p:cNvPr id="241" name="Google Shape;241;p21"/>
          <p:cNvSpPr txBox="1"/>
          <p:nvPr/>
        </p:nvSpPr>
        <p:spPr>
          <a:xfrm>
            <a:off x="8415813" y="2647950"/>
            <a:ext cx="2980372" cy="800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A8E8"/>
                </a:solidFill>
                <a:latin typeface="Poppins"/>
                <a:ea typeface="Poppins"/>
                <a:cs typeface="Poppins"/>
                <a:sym typeface="Poppins"/>
              </a:rPr>
              <a:t>3. Mature Content &amp; Acclaim</a:t>
            </a:r>
            <a:endParaRPr/>
          </a:p>
        </p:txBody>
      </p:sp>
      <p:sp>
        <p:nvSpPr>
          <p:cNvPr id="242" name="Google Shape;242;p21"/>
          <p:cNvSpPr txBox="1"/>
          <p:nvPr/>
        </p:nvSpPr>
        <p:spPr>
          <a:xfrm>
            <a:off x="1057275" y="3590925"/>
            <a:ext cx="26479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AAAAAA"/>
                </a:solidFill>
                <a:latin typeface="Lato"/>
                <a:ea typeface="Lato"/>
                <a:cs typeface="Lato"/>
                <a:sym typeface="Lato"/>
              </a:rPr>
              <a:t>Weak correlation between IMDb Rating and Gross Revenue.</a:t>
            </a:r>
            <a:endParaRPr/>
          </a:p>
        </p:txBody>
      </p:sp>
      <p:sp>
        <p:nvSpPr>
          <p:cNvPr id="243" name="Google Shape;243;p21"/>
          <p:cNvSpPr txBox="1"/>
          <p:nvPr/>
        </p:nvSpPr>
        <p:spPr>
          <a:xfrm>
            <a:off x="1057275" y="4143375"/>
            <a:ext cx="26479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AAAAAA"/>
                </a:solidFill>
                <a:latin typeface="Lato"/>
                <a:ea typeface="Lato"/>
                <a:cs typeface="Lato"/>
                <a:sym typeface="Lato"/>
              </a:rPr>
              <a:t>Strong correlation (0.60)</a:t>
            </a:r>
            <a:r>
              <a:rPr lang="en-US" sz="1200" b="0" i="0" u="none" strike="noStrike" cap="none">
                <a:solidFill>
                  <a:srgbClr val="AAAAAA"/>
                </a:solidFill>
                <a:latin typeface="Lato"/>
                <a:ea typeface="Lato"/>
                <a:cs typeface="Lato"/>
                <a:sym typeface="Lato"/>
              </a:rPr>
              <a:t> between </a:t>
            </a:r>
            <a:r>
              <a:rPr lang="en-US" sz="1200" b="1" i="0" u="none" strike="noStrike" cap="none">
                <a:solidFill>
                  <a:srgbClr val="AAAAAA"/>
                </a:solidFill>
                <a:latin typeface="Lato"/>
                <a:ea typeface="Lato"/>
                <a:cs typeface="Lato"/>
                <a:sym typeface="Lato"/>
              </a:rPr>
              <a:t>Number of Votes</a:t>
            </a:r>
            <a:r>
              <a:rPr lang="en-US" sz="1200" b="0" i="0" u="none" strike="noStrike" cap="none">
                <a:solidFill>
                  <a:srgbClr val="AAAAAA"/>
                </a:solidFill>
                <a:latin typeface="Lato"/>
                <a:ea typeface="Lato"/>
                <a:cs typeface="Lato"/>
                <a:sym typeface="Lato"/>
              </a:rPr>
              <a:t> and </a:t>
            </a:r>
            <a:r>
              <a:rPr lang="en-US" sz="1200" b="1" i="0" u="none" strike="noStrike" cap="none">
                <a:solidFill>
                  <a:srgbClr val="AAAAAA"/>
                </a:solidFill>
                <a:latin typeface="Lato"/>
                <a:ea typeface="Lato"/>
                <a:cs typeface="Lato"/>
                <a:sym typeface="Lato"/>
              </a:rPr>
              <a:t>Gross Revenue</a:t>
            </a:r>
            <a:r>
              <a:rPr lang="en-US" sz="1200" b="0" i="0" u="none" strike="noStrike" cap="none">
                <a:solidFill>
                  <a:srgbClr val="AAAAAA"/>
                </a:solidFill>
                <a:latin typeface="Lato"/>
                <a:ea typeface="Lato"/>
                <a:cs typeface="Lato"/>
                <a:sym typeface="Lato"/>
              </a:rPr>
              <a:t>.</a:t>
            </a:r>
            <a:endParaRPr/>
          </a:p>
        </p:txBody>
      </p:sp>
      <p:sp>
        <p:nvSpPr>
          <p:cNvPr id="244" name="Google Shape;244;p21"/>
          <p:cNvSpPr txBox="1"/>
          <p:nvPr/>
        </p:nvSpPr>
        <p:spPr>
          <a:xfrm>
            <a:off x="1057275" y="4695825"/>
            <a:ext cx="2647950"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AAAAAA"/>
                </a:solidFill>
                <a:latin typeface="Lato"/>
                <a:ea typeface="Lato"/>
                <a:cs typeface="Lato"/>
                <a:sym typeface="Lato"/>
              </a:rPr>
              <a:t>Commercial success is driven by audience volume, not just critical consensus.</a:t>
            </a:r>
            <a:endParaRPr/>
          </a:p>
        </p:txBody>
      </p:sp>
      <p:pic>
        <p:nvPicPr>
          <p:cNvPr id="245" name="Google Shape;245;p21" descr="image.png"/>
          <p:cNvPicPr preferRelativeResize="0"/>
          <p:nvPr/>
        </p:nvPicPr>
        <p:blipFill rotWithShape="1">
          <a:blip r:embed="rId6">
            <a:alphaModFix/>
          </a:blip>
          <a:srcRect/>
          <a:stretch/>
        </p:blipFill>
        <p:spPr>
          <a:xfrm>
            <a:off x="5867400" y="1952625"/>
            <a:ext cx="457200" cy="457200"/>
          </a:xfrm>
          <a:prstGeom prst="rect">
            <a:avLst/>
          </a:prstGeom>
          <a:noFill/>
          <a:ln>
            <a:noFill/>
          </a:ln>
        </p:spPr>
      </p:pic>
      <p:sp>
        <p:nvSpPr>
          <p:cNvPr id="246" name="Google Shape;246;p21"/>
          <p:cNvSpPr txBox="1"/>
          <p:nvPr/>
        </p:nvSpPr>
        <p:spPr>
          <a:xfrm>
            <a:off x="4867275" y="3990975"/>
            <a:ext cx="26479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AAAAAA"/>
                </a:solidFill>
                <a:latin typeface="Lato"/>
                <a:ea typeface="Lato"/>
                <a:cs typeface="Lato"/>
                <a:sym typeface="Lato"/>
              </a:rPr>
              <a:t>Revenue distribution is highly concentrated.</a:t>
            </a:r>
            <a:endParaRPr/>
          </a:p>
        </p:txBody>
      </p:sp>
      <p:sp>
        <p:nvSpPr>
          <p:cNvPr id="247" name="Google Shape;247;p21"/>
          <p:cNvSpPr txBox="1"/>
          <p:nvPr/>
        </p:nvSpPr>
        <p:spPr>
          <a:xfrm>
            <a:off x="4867275" y="4543425"/>
            <a:ext cx="26479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AAAAAA"/>
                </a:solidFill>
                <a:latin typeface="Lato"/>
                <a:ea typeface="Lato"/>
                <a:cs typeface="Lato"/>
                <a:sym typeface="Lato"/>
              </a:rPr>
              <a:t>The </a:t>
            </a:r>
            <a:r>
              <a:rPr lang="en-US" sz="1200" b="1" i="0" u="none" strike="noStrike" cap="none">
                <a:solidFill>
                  <a:srgbClr val="AAAAAA"/>
                </a:solidFill>
                <a:latin typeface="Lato"/>
                <a:ea typeface="Lato"/>
                <a:cs typeface="Lato"/>
                <a:sym typeface="Lato"/>
              </a:rPr>
              <a:t>Action/Adventure</a:t>
            </a:r>
            <a:r>
              <a:rPr lang="en-US" sz="1200" b="0" i="0" u="none" strike="noStrike" cap="none">
                <a:solidFill>
                  <a:srgbClr val="AAAAAA"/>
                </a:solidFill>
                <a:latin typeface="Lato"/>
                <a:ea typeface="Lato"/>
                <a:cs typeface="Lato"/>
                <a:sym typeface="Lato"/>
              </a:rPr>
              <a:t> genre is the undisputed market leader.</a:t>
            </a:r>
            <a:endParaRPr/>
          </a:p>
        </p:txBody>
      </p:sp>
      <p:sp>
        <p:nvSpPr>
          <p:cNvPr id="248" name="Google Shape;248;p21"/>
          <p:cNvSpPr txBox="1"/>
          <p:nvPr/>
        </p:nvSpPr>
        <p:spPr>
          <a:xfrm>
            <a:off x="4867275" y="5095875"/>
            <a:ext cx="2647950"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AAAAAA"/>
                </a:solidFill>
                <a:latin typeface="Lato"/>
                <a:ea typeface="Lato"/>
                <a:cs typeface="Lato"/>
                <a:sym typeface="Lato"/>
              </a:rPr>
              <a:t>This category is responsible for the overwhelming majority of total gross revenue.</a:t>
            </a:r>
            <a:endParaRPr/>
          </a:p>
        </p:txBody>
      </p:sp>
      <p:pic>
        <p:nvPicPr>
          <p:cNvPr id="249" name="Google Shape;249;p21" descr="image.png"/>
          <p:cNvPicPr preferRelativeResize="0"/>
          <p:nvPr/>
        </p:nvPicPr>
        <p:blipFill rotWithShape="1">
          <a:blip r:embed="rId7">
            <a:alphaModFix/>
          </a:blip>
          <a:srcRect/>
          <a:stretch/>
        </p:blipFill>
        <p:spPr>
          <a:xfrm>
            <a:off x="9648825" y="1952625"/>
            <a:ext cx="514350" cy="457200"/>
          </a:xfrm>
          <a:prstGeom prst="rect">
            <a:avLst/>
          </a:prstGeom>
          <a:noFill/>
          <a:ln>
            <a:noFill/>
          </a:ln>
        </p:spPr>
      </p:pic>
      <p:sp>
        <p:nvSpPr>
          <p:cNvPr id="250" name="Google Shape;250;p21"/>
          <p:cNvSpPr txBox="1"/>
          <p:nvPr/>
        </p:nvSpPr>
        <p:spPr>
          <a:xfrm>
            <a:off x="8677275" y="3590925"/>
            <a:ext cx="2647950" cy="914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AAAAAA"/>
                </a:solidFill>
                <a:latin typeface="Lato"/>
                <a:ea typeface="Lato"/>
                <a:cs typeface="Lato"/>
                <a:sym typeface="Lato"/>
              </a:rPr>
              <a:t>Content categorized for mature audiences (e.g., 'TV-14', '16', 'TV-MA') consistently achieves </a:t>
            </a:r>
            <a:r>
              <a:rPr lang="en-US" sz="1200" b="1" i="0" u="none" strike="noStrike" cap="none">
                <a:solidFill>
                  <a:srgbClr val="AAAAAA"/>
                </a:solidFill>
                <a:latin typeface="Lato"/>
                <a:ea typeface="Lato"/>
                <a:cs typeface="Lato"/>
                <a:sym typeface="Lato"/>
              </a:rPr>
              <a:t>higher average IMDb ratings</a:t>
            </a:r>
            <a:r>
              <a:rPr lang="en-US" sz="1200" b="0" i="0" u="none" strike="noStrike" cap="none">
                <a:solidFill>
                  <a:srgbClr val="AAAAAA"/>
                </a:solidFill>
                <a:latin typeface="Lato"/>
                <a:ea typeface="Lato"/>
                <a:cs typeface="Lato"/>
                <a:sym typeface="Lato"/>
              </a:rPr>
              <a:t>.</a:t>
            </a:r>
            <a:endParaRPr/>
          </a:p>
        </p:txBody>
      </p:sp>
      <p:sp>
        <p:nvSpPr>
          <p:cNvPr id="251" name="Google Shape;251;p21"/>
          <p:cNvSpPr txBox="1"/>
          <p:nvPr/>
        </p:nvSpPr>
        <p:spPr>
          <a:xfrm>
            <a:off x="8677275" y="4600575"/>
            <a:ext cx="2647950"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AAAAAA"/>
                </a:solidFill>
                <a:latin typeface="Lato"/>
                <a:ea typeface="Lato"/>
                <a:cs typeface="Lato"/>
                <a:sym typeface="Lato"/>
              </a:rPr>
              <a:t>This suggests that highly focused, mature content achieves greater critical consensus.</a:t>
            </a:r>
            <a:endParaRPr/>
          </a:p>
        </p:txBody>
      </p:sp>
      <p:sp>
        <p:nvSpPr>
          <p:cNvPr id="252" name="Google Shape;252;p21"/>
          <p:cNvSpPr txBox="1"/>
          <p:nvPr/>
        </p:nvSpPr>
        <p:spPr>
          <a:xfrm>
            <a:off x="866775" y="3590925"/>
            <a:ext cx="47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00A8E8"/>
                </a:solidFill>
                <a:latin typeface="Lato"/>
                <a:ea typeface="Lato"/>
                <a:cs typeface="Lato"/>
                <a:sym typeface="Lato"/>
              </a:rPr>
              <a:t>›</a:t>
            </a:r>
            <a:endParaRPr/>
          </a:p>
        </p:txBody>
      </p:sp>
      <p:sp>
        <p:nvSpPr>
          <p:cNvPr id="253" name="Google Shape;253;p21"/>
          <p:cNvSpPr txBox="1"/>
          <p:nvPr/>
        </p:nvSpPr>
        <p:spPr>
          <a:xfrm>
            <a:off x="866775" y="4143375"/>
            <a:ext cx="47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00A8E8"/>
                </a:solidFill>
                <a:latin typeface="Lato"/>
                <a:ea typeface="Lato"/>
                <a:cs typeface="Lato"/>
                <a:sym typeface="Lato"/>
              </a:rPr>
              <a:t>›</a:t>
            </a:r>
            <a:endParaRPr/>
          </a:p>
        </p:txBody>
      </p:sp>
      <p:sp>
        <p:nvSpPr>
          <p:cNvPr id="254" name="Google Shape;254;p21"/>
          <p:cNvSpPr txBox="1"/>
          <p:nvPr/>
        </p:nvSpPr>
        <p:spPr>
          <a:xfrm>
            <a:off x="866775" y="4695825"/>
            <a:ext cx="47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00A8E8"/>
                </a:solidFill>
                <a:latin typeface="Lato"/>
                <a:ea typeface="Lato"/>
                <a:cs typeface="Lato"/>
                <a:sym typeface="Lato"/>
              </a:rPr>
              <a:t>›</a:t>
            </a:r>
            <a:endParaRPr/>
          </a:p>
        </p:txBody>
      </p:sp>
      <p:sp>
        <p:nvSpPr>
          <p:cNvPr id="255" name="Google Shape;255;p21"/>
          <p:cNvSpPr txBox="1"/>
          <p:nvPr/>
        </p:nvSpPr>
        <p:spPr>
          <a:xfrm>
            <a:off x="4676775" y="3990975"/>
            <a:ext cx="47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00A8E8"/>
                </a:solidFill>
                <a:latin typeface="Lato"/>
                <a:ea typeface="Lato"/>
                <a:cs typeface="Lato"/>
                <a:sym typeface="Lato"/>
              </a:rPr>
              <a:t>›</a:t>
            </a:r>
            <a:endParaRPr/>
          </a:p>
        </p:txBody>
      </p:sp>
      <p:sp>
        <p:nvSpPr>
          <p:cNvPr id="256" name="Google Shape;256;p21"/>
          <p:cNvSpPr txBox="1"/>
          <p:nvPr/>
        </p:nvSpPr>
        <p:spPr>
          <a:xfrm>
            <a:off x="4676775" y="4543425"/>
            <a:ext cx="47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00A8E8"/>
                </a:solidFill>
                <a:latin typeface="Lato"/>
                <a:ea typeface="Lato"/>
                <a:cs typeface="Lato"/>
                <a:sym typeface="Lato"/>
              </a:rPr>
              <a:t>›</a:t>
            </a:r>
            <a:endParaRPr/>
          </a:p>
        </p:txBody>
      </p:sp>
      <p:sp>
        <p:nvSpPr>
          <p:cNvPr id="257" name="Google Shape;257;p21"/>
          <p:cNvSpPr txBox="1"/>
          <p:nvPr/>
        </p:nvSpPr>
        <p:spPr>
          <a:xfrm>
            <a:off x="4676775" y="5095875"/>
            <a:ext cx="47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00A8E8"/>
                </a:solidFill>
                <a:latin typeface="Lato"/>
                <a:ea typeface="Lato"/>
                <a:cs typeface="Lato"/>
                <a:sym typeface="Lato"/>
              </a:rPr>
              <a:t>›</a:t>
            </a:r>
            <a:endParaRPr/>
          </a:p>
        </p:txBody>
      </p:sp>
      <p:sp>
        <p:nvSpPr>
          <p:cNvPr id="258" name="Google Shape;258;p21"/>
          <p:cNvSpPr txBox="1"/>
          <p:nvPr/>
        </p:nvSpPr>
        <p:spPr>
          <a:xfrm>
            <a:off x="8486775" y="3590925"/>
            <a:ext cx="47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00A8E8"/>
                </a:solidFill>
                <a:latin typeface="Lato"/>
                <a:ea typeface="Lato"/>
                <a:cs typeface="Lato"/>
                <a:sym typeface="Lato"/>
              </a:rPr>
              <a:t>›</a:t>
            </a:r>
            <a:endParaRPr/>
          </a:p>
        </p:txBody>
      </p:sp>
      <p:sp>
        <p:nvSpPr>
          <p:cNvPr id="259" name="Google Shape;259;p21"/>
          <p:cNvSpPr txBox="1"/>
          <p:nvPr/>
        </p:nvSpPr>
        <p:spPr>
          <a:xfrm>
            <a:off x="8486775" y="4600575"/>
            <a:ext cx="47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00A8E8"/>
                </a:solidFill>
                <a:latin typeface="Lato"/>
                <a:ea typeface="Lato"/>
                <a:cs typeface="Lato"/>
                <a:sym typeface="Lato"/>
              </a:rPr>
              <a:t>›</a:t>
            </a:r>
            <a:endParaRPr/>
          </a:p>
        </p:txBody>
      </p:sp>
      <p:sp>
        <p:nvSpPr>
          <p:cNvPr id="260" name="Google Shape;260;p21"/>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E50914"/>
                </a:solidFill>
                <a:latin typeface="Poppins"/>
                <a:ea typeface="Poppins"/>
                <a:cs typeface="Poppins"/>
                <a:sym typeface="Poppins"/>
              </a:rPr>
              <a:t>Key Summary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264"/>
        <p:cNvGrpSpPr/>
        <p:nvPr/>
      </p:nvGrpSpPr>
      <p:grpSpPr>
        <a:xfrm>
          <a:off x="0" y="0"/>
          <a:ext cx="0" cy="0"/>
          <a:chOff x="0" y="0"/>
          <a:chExt cx="0" cy="0"/>
        </a:xfrm>
      </p:grpSpPr>
      <p:pic>
        <p:nvPicPr>
          <p:cNvPr id="265" name="Google Shape;265;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6" name="Google Shape;266;p22"/>
          <p:cNvSpPr txBox="1"/>
          <p:nvPr/>
        </p:nvSpPr>
        <p:spPr>
          <a:xfrm>
            <a:off x="571500" y="2162175"/>
            <a:ext cx="116014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50914"/>
                </a:solidFill>
                <a:latin typeface="Poppins"/>
                <a:ea typeface="Poppins"/>
                <a:cs typeface="Poppins"/>
                <a:sym typeface="Poppins"/>
              </a:rPr>
              <a:t>Conclusion</a:t>
            </a:r>
            <a:endParaRPr/>
          </a:p>
        </p:txBody>
      </p:sp>
      <p:sp>
        <p:nvSpPr>
          <p:cNvPr id="267" name="Google Shape;267;p22"/>
          <p:cNvSpPr txBox="1"/>
          <p:nvPr/>
        </p:nvSpPr>
        <p:spPr>
          <a:xfrm>
            <a:off x="571500" y="2567374"/>
            <a:ext cx="11049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CCCCC"/>
                </a:solidFill>
                <a:latin typeface="Lato"/>
                <a:ea typeface="Lato"/>
                <a:cs typeface="Lato"/>
                <a:sym typeface="Lato"/>
              </a:rPr>
              <a:t>Success in the film industry is a function of audience scale, not just critical perfection. While the dataset's 8.11 Weighted Average Rating confirms its high quality, the financial analysis shows that high revenue is most strongly tied to the </a:t>
            </a:r>
            <a:r>
              <a:rPr lang="en-US" sz="1500" b="1" i="0" u="none" strike="noStrike" cap="none">
                <a:solidFill>
                  <a:srgbClr val="CCCCCC"/>
                </a:solidFill>
                <a:latin typeface="Lato"/>
                <a:ea typeface="Lato"/>
                <a:cs typeface="Lato"/>
                <a:sym typeface="Lato"/>
              </a:rPr>
              <a:t>Number of Votes (Audience Engagement)</a:t>
            </a:r>
            <a:r>
              <a:rPr lang="en-US" sz="1500" b="0" i="0" u="none" strike="noStrike" cap="none">
                <a:solidFill>
                  <a:srgbClr val="CCCCCC"/>
                </a:solidFill>
                <a:latin typeface="Lato"/>
                <a:ea typeface="Lato"/>
                <a:cs typeface="Lato"/>
                <a:sym typeface="Lato"/>
              </a:rPr>
              <a:t>, with a correlation of 0.60.</a:t>
            </a:r>
            <a:endParaRPr/>
          </a:p>
        </p:txBody>
      </p:sp>
      <p:sp>
        <p:nvSpPr>
          <p:cNvPr id="268" name="Google Shape;268;p22"/>
          <p:cNvSpPr txBox="1"/>
          <p:nvPr/>
        </p:nvSpPr>
        <p:spPr>
          <a:xfrm>
            <a:off x="571500" y="4138226"/>
            <a:ext cx="116014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50914"/>
                </a:solidFill>
                <a:latin typeface="Poppins"/>
                <a:ea typeface="Poppins"/>
                <a:cs typeface="Poppins"/>
                <a:sym typeface="Poppins"/>
              </a:rPr>
              <a:t>Recommendation</a:t>
            </a:r>
            <a:endParaRPr/>
          </a:p>
        </p:txBody>
      </p:sp>
      <p:sp>
        <p:nvSpPr>
          <p:cNvPr id="269" name="Google Shape;269;p22"/>
          <p:cNvSpPr txBox="1"/>
          <p:nvPr/>
        </p:nvSpPr>
        <p:spPr>
          <a:xfrm>
            <a:off x="571500" y="4543425"/>
            <a:ext cx="11049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CCCCC"/>
                </a:solidFill>
                <a:latin typeface="Lato"/>
                <a:ea typeface="Lato"/>
                <a:cs typeface="Lato"/>
                <a:sym typeface="Lato"/>
              </a:rPr>
              <a:t>Future investment should strategically focus on producing films within the </a:t>
            </a:r>
            <a:r>
              <a:rPr lang="en-US" sz="1500" b="1" i="0" u="none" strike="noStrike" cap="none">
                <a:solidFill>
                  <a:srgbClr val="CCCCCC"/>
                </a:solidFill>
                <a:latin typeface="Lato"/>
                <a:ea typeface="Lato"/>
                <a:cs typeface="Lato"/>
                <a:sym typeface="Lato"/>
              </a:rPr>
              <a:t>Action and Adventure</a:t>
            </a:r>
            <a:r>
              <a:rPr lang="en-US" sz="1500" b="0" i="0" u="none" strike="noStrike" cap="none">
                <a:solidFill>
                  <a:srgbClr val="CCCCCC"/>
                </a:solidFill>
                <a:latin typeface="Lato"/>
                <a:ea typeface="Lato"/>
                <a:cs typeface="Lato"/>
                <a:sym typeface="Lato"/>
              </a:rPr>
              <a:t> genre combination. Simultaneously, marketing strategies must be aimed at </a:t>
            </a:r>
            <a:r>
              <a:rPr lang="en-US" sz="1500" b="1" i="0" u="none" strike="noStrike" cap="none">
                <a:solidFill>
                  <a:srgbClr val="CCCCCC"/>
                </a:solidFill>
                <a:latin typeface="Lato"/>
                <a:ea typeface="Lato"/>
                <a:cs typeface="Lato"/>
                <a:sym typeface="Lato"/>
              </a:rPr>
              <a:t>maximizing audience engagement and vote volume</a:t>
            </a:r>
            <a:r>
              <a:rPr lang="en-US" sz="1500" b="0" i="0" u="none" strike="noStrike" cap="none">
                <a:solidFill>
                  <a:srgbClr val="CCCCCC"/>
                </a:solidFill>
                <a:latin typeface="Lato"/>
                <a:ea typeface="Lato"/>
                <a:cs typeface="Lato"/>
                <a:sym typeface="Lato"/>
              </a:rPr>
              <a:t>, as these metrics are the most reliable indicators for achieving high gross revenue.</a:t>
            </a:r>
            <a:endParaRPr/>
          </a:p>
        </p:txBody>
      </p:sp>
      <p:sp>
        <p:nvSpPr>
          <p:cNvPr id="270" name="Google Shape;270;p22"/>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E50914"/>
                </a:solidFill>
                <a:latin typeface="Poppins"/>
                <a:ea typeface="Poppins"/>
                <a:cs typeface="Poppins"/>
                <a:sym typeface="Poppins"/>
              </a:rPr>
              <a:t>Conclusion &amp; Recommendation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18</cp:revision>
  <dcterms:modified xsi:type="dcterms:W3CDTF">2025-11-01T16:10:31Z</dcterms:modified>
</cp:coreProperties>
</file>